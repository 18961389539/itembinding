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8" Type="http://schemas.openxmlformats.org/officeDocument/2006/relationships/slide" Target="slides/slide8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Relationship Id="rId2" Type="http://schemas.openxmlformats.org/officeDocument/2006/relationships/image" Target="media/image19.svg" /><Relationship Id="rId3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media/image21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0.svg" /><Relationship Id="rId1" Type="http://schemas.openxmlformats.org/officeDocument/2006/relationships/image" Target="media/image5.svg" /><Relationship Id="rId4" Type="http://schemas.openxmlformats.org/officeDocument/2006/relationships/image" Target="media/image22.svg" /><Relationship Id="rId5" Type="http://schemas.openxmlformats.org/officeDocument/2006/relationships/image" Target="media/image23.svg" /><Relationship Id="rId6" Type="http://schemas.openxmlformats.org/officeDocument/2006/relationships/image" Target="media/image2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7.svg" /><Relationship Id="rId1" Type="http://schemas.openxmlformats.org/officeDocument/2006/relationships/image" Target="media/image24.png" /><Relationship Id="rId3" Type="http://schemas.openxmlformats.org/officeDocument/2006/relationships/image" Target="media/image2.svg" /></Relationships>
</file>

<file path=ppt/slides/_rels/slide9.xml.rels><?xml version="1.0" encoding="UTF-8" standalone="yes"?><Relationships xmlns="http://schemas.openxmlformats.org/package/2006/relationships"><Relationship Id="rId4" Type="http://schemas.openxmlformats.org/officeDocument/2006/relationships/image" Target="media/image4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5.svg" /><Relationship Id="rId2" Type="http://schemas.openxmlformats.org/officeDocument/2006/relationships/image" Target="media/image26.svg" /><Relationship Id="rId5" Type="http://schemas.openxmlformats.org/officeDocument/2006/relationships/image" Target="media/image2.svg" /><Relationship Id="rId3" Type="http://schemas.openxmlformats.org/officeDocument/2006/relationships/image" Target="media/image27.svg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1.xml" /><Relationship Id="rId2" Type="http://schemas.openxmlformats.org/officeDocument/2006/relationships/image" Target="media/image4.png" /><Relationship Id="rId3" Type="http://schemas.openxmlformats.org/officeDocument/2006/relationships/image" Target="media/image2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6" Type="http://schemas.openxmlformats.org/officeDocument/2006/relationships/image" Target="media/image10.svg" /><Relationship Id="rId4" Type="http://schemas.openxmlformats.org/officeDocument/2006/relationships/image" Target="media/image8.svg" /><Relationship Id="rId2" Type="http://schemas.openxmlformats.org/officeDocument/2006/relationships/image" Target="media/image6.svg" /><Relationship Id="rId3" Type="http://schemas.openxmlformats.org/officeDocument/2006/relationships/image" Target="media/image7.svg" /><Relationship Id="rId7" Type="http://schemas.openxmlformats.org/officeDocument/2006/relationships/image" Target="media/image11.svg" /><Relationship Id="rId5" Type="http://schemas.openxmlformats.org/officeDocument/2006/relationships/image" Target="media/image9.svg" /><Relationship Id="rId8" Type="http://schemas.openxmlformats.org/officeDocument/2006/relationships/image" Target="media/image12.svg" /><Relationship Id="rId9" Type="http://schemas.openxmlformats.org/officeDocument/2006/relationships/image" Target="media/image2.svg" /></Relationships>
</file>

<file path=ppt/slides/_rels/slide15.xml.rels><?xml version="1.0" encoding="UTF-8" standalone="yes"?><Relationships xmlns="http://schemas.openxmlformats.org/package/2006/relationships"><Relationship Id="rId3" Type="http://schemas.openxmlformats.org/officeDocument/2006/relationships/image" Target="media/image15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Relationship Id="rId2" Type="http://schemas.openxmlformats.org/officeDocument/2006/relationships/image" Target="media/image14.svg" /><Relationship Id="rId4" Type="http://schemas.openxmlformats.org/officeDocument/2006/relationships/image" Target="media/image16.png" /><Relationship Id="rId5" Type="http://schemas.openxmlformats.org/officeDocument/2006/relationships/image" Target="media/image17.svg" /><Relationship Id="rId6" Type="http://schemas.openxmlformats.org/officeDocument/2006/relationships/image" Target="media/image2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svg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8FA9C4"/>
                </a:solidFill>
              </a:defRPr>
            </a:pPr>
            <a:r>
              <a:rPr sz="1350">
                <a:solidFill>
                  <a:srgbClr val="8FA9C4"/>
                </a:solidFill>
              </a:rPr>
              <a:t>单位：毫秒（ms）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8FA9C4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检测耗时</c:v>
                </c:pt>
              </c:strCache>
            </c:strRef>
          </c:tx>
          <c:spPr>
            <a:solidFill>
              <a:srgbClr val="2E7FE0"/>
            </a:solidFill>
          </c:spPr>
          <c:dLbls>
            <c:txPr>
              <a:bodyPr/>
              <a:p>
                <a:pPr>
                  <a:defRPr sz="750">
                    <a:solidFill>
                      <a:srgbClr val="F2B33D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9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</c:strCache>
            </c:strRef>
          </c:cat>
          <c:val>
            <c:numRef>
              <c:numCache>
                <c:formatCode>General</c:formatCode>
                <c:ptCount val="9"/>
                <c:pt idx="0">
                  <c:v>307</c:v>
                </c:pt>
                <c:pt idx="1">
                  <c:v>320</c:v>
                </c:pt>
                <c:pt idx="2">
                  <c:v>325</c:v>
                </c:pt>
                <c:pt idx="3">
                  <c:v>332</c:v>
                </c:pt>
                <c:pt idx="4">
                  <c:v>337</c:v>
                </c:pt>
                <c:pt idx="5">
                  <c:v>379</c:v>
                </c:pt>
                <c:pt idx="6">
                  <c:v>394</c:v>
                </c:pt>
                <c:pt idx="7">
                  <c:v>436</c:v>
                </c:pt>
                <c:pt idx="8">
                  <c:v>501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5B7590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5B7590"/>
                </a:solidFill>
              </a:defRPr>
            </a:pPr>
          </a:p>
        </c:txPr>
        <c:crossAx val="89736801"/>
        <c:crossBetween val="between"/>
      </c:valAx>
      <c:spPr>
        <a:solidFill>
          <a:srgbClr val="12293F"/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position: 'relative', background: '#0B1B2B', padding: 0, overflow: 'hidden' }}&gt;&#10;    &lt;Image src='assets/cover_industry.png' style={{ position: 'absolute', top: 0, left: 0, width: 1280, height: 720, objectFit: 'cover' }} /&gt;&#10;    &lt;Box style={{ position: 'absolute', top: 0, left: 0, width: 1280, height: 720, background: 'linear-gradient(90deg, rgba(6,17,29,0.97) 0%, rgba(6,17,29,0.94) 40%, rgba(6,17,29,0.62) 62%, rgba(6,17,29,0.20) 85%, rgba(6,17,29,0.06) 100%)' }} /&gt;&#10;    &lt;Box style={{ position: 'absolute', left: 0, top: 0, width: 4, height: 720, background: 'linear-gradient(180deg, #2E7FE0 0%, #48C9B0 100%)' }} /&gt;&#10;&#10;    &lt;Box style={{ position: 'relative', zIndex: 1, width: 1280, height: 720, padding: '96px 96px 68px', justifyContent: 'space-between' }}&gt;&#10;        &lt;Box&gt;&#10;            &lt;Text style={{ fontSize: 16, color: '#48C9B0', letterSpacing: 3, fontWeight: 'bold' }}&gt;CAV · 视觉检测与物码绑定&lt;/Text&gt;&#10;            &lt;Text style={{ fontSize: 76, fontWeight: 'bold', color: '#E8EEF6', lineHeight: 1.12, letterSpacing: 2, marginTop: 30 }}&gt;物码绑定视觉系统&lt;/Text&gt;&#10;            &lt;Box style={{ width: 64, height: 4, background: '#F2B33D', marginTop: 30, marginBottom: 26 }} /&gt;&#10;            &lt;Text style={{ fontSize: 24, color: '#8FA9C4', letterSpacing: 1.5 }}&gt;AI 视觉检测 · 九点标定 · 机器人打码通讯&lt;/Text&gt;&#10;            &lt;Text style={{ fontSize: 19, color: '#7B94AD', lineHeight: 1.7, width: 680, marginTop: 22 }}&gt;&#10;                让每一件产品的位置、姿态与身份，&#10;                &lt;br /&gt;&#10;                在进入工位之前就已被机器读懂。&#10;            &lt;/Text&gt;&#10;        &lt;/Box&gt;&#10;&#10;        &lt;Box style={{ flexDirection: 'row', alignItems: 'flex-end', justifyContent: 'space-between', width: 1088 }}&gt;&#10;            &lt;Box style={{ flexDirection: 'row', gap: 12 }}&gt;&#10;                {['离线可运行', '配方化换型', '亚秒级节拍'].map((t, i) =&gt; (&#10;                    &lt;Box key={i} style={{ padding: '8px 18px', borderRadius: 999, border: '1px solid rgba(46,127,224,0.55)', background: 'rgba(46,127,224,0.12)' }}&gt;&#10;                        &lt;Text style={{ fontSize: 16, color: '#9EC4EE' }}&gt;{t}&lt;/Text&gt;&#10;                    &lt;/Box&gt;&#10;                ))}&#10;            &lt;/Box&gt;&#10;            &lt;Text style={{ fontSize: 14, color: '#5B7590', letterSpacing: 2 }}&gt;2026 · 对外项目推介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4237" r="0" b="4237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11D">
                  <a:alpha val="97000"/>
                </a:srgbClr>
              </a:gs>
              <a:gs pos="40000">
                <a:srgbClr val="06111D">
                  <a:alpha val="94000"/>
                </a:srgbClr>
              </a:gs>
              <a:gs pos="62000">
                <a:srgbClr val="06111D">
                  <a:alpha val="62000"/>
                </a:srgbClr>
              </a:gs>
              <a:gs pos="85000">
                <a:srgbClr val="06111D">
                  <a:alpha val="20000"/>
                </a:srgbClr>
              </a:gs>
              <a:gs pos="100000">
                <a:srgbClr val="06111D">
                  <a:alpha val="6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38100" cy="6858000"/>
          </a:xfrm>
          <a:prstGeom prst="rect">
            <a:avLst/>
          </a:prstGeom>
          <a:gradFill>
            <a:gsLst>
              <a:gs pos="0">
                <a:srgbClr val="2E7FE0"/>
              </a:gs>
              <a:gs pos="100000">
                <a:srgbClr val="48C9B0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14400" y="9144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48C9B0"/>
                </a:solidFill>
                <a:latin typeface="Microsoft YaHei"/>
                <a:ea typeface="Microsoft YaHei"/>
              </a:rPr>
              <a:t xml:space="preserve">CAV · </a:t>
            </a:r>
            <a:r>
              <a:rPr lang="zh-CN" sz="1200" b="1" spc="225">
                <a:solidFill>
                  <a:srgbClr val="48C9B0"/>
                </a:solidFill>
                <a:latin typeface="Microsoft YaHei"/>
                <a:ea typeface="Microsoft YaHei"/>
              </a:rPr>
              <a:t>视觉检测与物码绑定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14400" y="1390650"/>
            <a:ext cx="10363200" cy="98107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5700" b="1" spc="150">
                <a:solidFill>
                  <a:srgbClr val="E8EEF6"/>
                </a:solidFill>
                <a:latin typeface="Microsoft YaHei"/>
                <a:ea typeface="Microsoft YaHei"/>
              </a:rPr>
              <a:t>物码绑定视觉系统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914400" y="2657475"/>
            <a:ext cx="609600" cy="38100"/>
          </a:xfrm>
          <a:prstGeom prst="rect">
            <a:avLst/>
          </a:prstGeom>
          <a:solidFill>
            <a:srgbClr val="F2B33D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14400" y="2943225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113">
                <a:solidFill>
                  <a:srgbClr val="8FA9C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800" spc="113">
                <a:solidFill>
                  <a:srgbClr val="8FA9C4"/>
                </a:solidFill>
                <a:latin typeface="Microsoft YaHei"/>
                <a:ea typeface="Microsoft YaHei"/>
              </a:rPr>
              <a:t>视觉检测</a:t>
            </a:r>
            <a:r>
              <a:rPr lang="en-US" sz="1800" spc="113">
                <a:solidFill>
                  <a:srgbClr val="8FA9C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spc="113">
                <a:solidFill>
                  <a:srgbClr val="8FA9C4"/>
                </a:solidFill>
                <a:latin typeface="Microsoft YaHei"/>
                <a:ea typeface="Microsoft YaHei"/>
              </a:rPr>
              <a:t>九点标定</a:t>
            </a:r>
            <a:r>
              <a:rPr lang="en-US" sz="1800" spc="113">
                <a:solidFill>
                  <a:srgbClr val="8FA9C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spc="113">
                <a:solidFill>
                  <a:srgbClr val="8FA9C4"/>
                </a:solidFill>
                <a:latin typeface="Microsoft YaHei"/>
                <a:ea typeface="Microsoft YaHei"/>
              </a:rPr>
              <a:t>机器人打码通讯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4400" y="3429000"/>
            <a:ext cx="6477000" cy="7429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7B94AD"/>
                </a:solidFill>
                <a:latin typeface="Microsoft YaHei"/>
                <a:ea typeface="Microsoft YaHei"/>
              </a:rPr>
              <a:t>让每一件产品的位置、姿态与身份，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7B94AD"/>
                </a:solidFill>
                <a:latin typeface="Microsoft YaHei"/>
                <a:ea typeface="Microsoft YaHei"/>
              </a:rPr>
              <a:t>在进入工位之前就已被机器读懂。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914400" y="5867400"/>
            <a:ext cx="1104900" cy="342900"/>
          </a:xfrm>
          <a:prstGeom prst="roundRect">
            <a:avLst>
              <a:gd name="adj" fmla="val 2775000"/>
            </a:avLst>
          </a:prstGeom>
          <a:solidFill>
            <a:srgbClr val="2E7FE0">
              <a:alpha val="12000"/>
            </a:srgbClr>
          </a:solidFill>
          <a:ln w="12700">
            <a:solidFill>
              <a:srgbClr val="2E7FE0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085850" y="59436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EC4EE"/>
                </a:solidFill>
                <a:latin typeface="Microsoft YaHei"/>
                <a:ea typeface="Microsoft YaHei"/>
              </a:rPr>
              <a:t>离线可运行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133600" y="5867400"/>
            <a:ext cx="1104900" cy="342900"/>
          </a:xfrm>
          <a:prstGeom prst="roundRect">
            <a:avLst>
              <a:gd name="adj" fmla="val 2775000"/>
            </a:avLst>
          </a:prstGeom>
          <a:solidFill>
            <a:srgbClr val="2E7FE0">
              <a:alpha val="12000"/>
            </a:srgbClr>
          </a:solidFill>
          <a:ln w="12700">
            <a:solidFill>
              <a:srgbClr val="2E7FE0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305050" y="59436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EC4EE"/>
                </a:solidFill>
                <a:latin typeface="Microsoft YaHei"/>
                <a:ea typeface="Microsoft YaHei"/>
              </a:rPr>
              <a:t>配方化换型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352800" y="5867400"/>
            <a:ext cx="1104900" cy="342900"/>
          </a:xfrm>
          <a:prstGeom prst="roundRect">
            <a:avLst>
              <a:gd name="adj" fmla="val 2775000"/>
            </a:avLst>
          </a:prstGeom>
          <a:solidFill>
            <a:srgbClr val="2E7FE0">
              <a:alpha val="12000"/>
            </a:srgbClr>
          </a:solidFill>
          <a:ln w="12700">
            <a:solidFill>
              <a:srgbClr val="2E7FE0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524250" y="59436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EC4EE"/>
                </a:solidFill>
                <a:latin typeface="Microsoft YaHei"/>
                <a:ea typeface="Microsoft YaHei"/>
              </a:rPr>
              <a:t>亚秒级节拍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801225" y="6048375"/>
            <a:ext cx="1476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5B7590"/>
                </a:solidFill>
                <a:latin typeface="Microsoft YaHei"/>
                <a:ea typeface="Microsoft YaHei"/>
              </a:rPr>
              <a:t xml:space="preserve">2026 · </a:t>
            </a:r>
            <a:r>
              <a:rPr lang="zh-CN" sz="1050" spc="150">
                <a:solidFill>
                  <a:srgbClr val="5B7590"/>
                </a:solidFill>
                <a:latin typeface="Microsoft YaHei"/>
                <a:ea typeface="Microsoft YaHei"/>
              </a:rPr>
              <a:t>对外项目推介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4" name="" descr="&lt;Slide style={{ width: 1280, height: 720, background: '#0B1B2B', padding: '28px 72px', position: 'relative', overflow: 'hidden' }}&gt;&#10;    &lt;Box style={{ position: 'absolute', right: 0, bottom: 0, opacity: 0.09 }}&gt;&#10;        &lt;svg width='200' height='200' viewBox='0 0 200 200'&gt;&#10;            &lt;circle cx='200' cy='0' r='196' fill='none' stroke='#2E7FE0' strokeWidth='2' /&gt;&#10;            &lt;circle cx='200' cy='0' r='150' fill='none' stroke='#2E7FE0' strokeWidth='1.5' /&gt;&#10;            &lt;circle cx='200' cy='0' r='104' fill='none' stroke='#48C9B0' strokeWidth='1.5' /&gt;&#10;        &lt;/svg&gt;&#10;    &lt;/Box&gt;&#10;&#10;    &lt;Box style={{ height: 100, flexDirection: 'row', alignItems: 'center', gap: 18 }}&gt;&#10;        &lt;Box style={{ width: 4, height: 38, background: '#2E7FE0' }} /&gt;&#10;        &lt;Text style={{ fontSize: 38, fontWeight: 'bold', color: '#E8EEF6', letterSpacing: 1 }}&gt;目录&lt;/Text&gt;&#10;        &lt;Box style={{ flex: 1, height: 1, background: 'rgba(232,238,246,0.10)', marginLeft: 16 }} /&gt;&#10;    &lt;/Box&gt;&#10;&#10;    &lt;Box style={{ height: 524, flexDirection: 'row', gap: 44 }}&gt;&#10;        &lt;Box style={{ width: 348, paddingTop: 18, justifyContent: 'space-between' }}&gt;&#10;            &lt;Box&gt;&#10;                &lt;Text style={{ fontSize: 16, color: '#48C9B0', letterSpacing: 3, fontWeight: 'bold' }}&gt;CONTENTS&lt;/Text&gt;&#10;                &lt;Text style={{ fontSize: 28, fontWeight: 'bold', color: '#E8EEF6', lineHeight: 1.4, marginTop: 18 }}&gt;&#10;                    四个问题&#10;                    &lt;br /&gt;&#10;                    一次讲清&#10;                &lt;/Text&gt;&#10;                &lt;Box style={{ width: 48, height: 3, background: '#2E7FE0', marginTop: 22, marginBottom: 22 }} /&gt;&#10;                &lt;Text style={{ fontSize: 17, color: '#8FA9C4', lineHeight: 1.85 }}&gt;&#10;                    这份材料按产线上的真实顺序组织：先看现状断点，再看系统如何把它闭环，然后拿数据验证，最后落到装机与售后。&#10;                &lt;/Text&gt;&#10;            &lt;/Box&gt;&#10;            &lt;Box style={{ padding: '14px 18px', borderRadius: 10, background: 'rgba(46,127,224,0.12)', border: '1px solid rgba(46,127,224,0.28)' }}&gt;&#10;                &lt;Text style={{ fontSize: 15, color: '#9EC4EE', lineHeight: 1.6 }}&gt;四个章节均配有产线实测记录与工程实证&lt;/Text&gt;&#10;            &lt;/Box&gt;&#10;        &lt;/Box&gt;&#10;&#10;        &lt;Box style={{ flex: 1, justifyContent: 'space-between' }}&gt;&#10;&#10;            &lt;Box style={{ flexDirection: 'row', alignItems: 'center', gap: 20, paddingBottom: 14, borderBottom: '1px solid rgba(232,238,246,0.10)' }}&gt;&#10;                &lt;Text style={{ fontSize: 30, fontWeight: 'bold', color: '#2E7FE0', fontFamily: 'Consolas' }}&gt;01&lt;/Text&gt;&#10;                &lt;Box style={{ flex: 1 }}&gt;&#10;                    &lt;Text style={{ fontSize: 24, fontWeight: 'bold', color: '#E8EEF6' }}&gt;产线现状与痛点&lt;/Text&gt;&#10;                    &lt;Text style={{ fontSize: 16, color: '#8FA9C4', lineHeight: 1.6, marginTop: 6 }}&gt;人工判向、事后配对、换型停工——三个断点各自吃掉一段节拍&lt;/Text&gt;&#10;                &lt;/Box&gt;&#10;                &lt;Text style={{ fontSize: 15, color: '#4A6480', fontFamily: 'Consolas' }}&gt;P03-04&lt;/Text&gt;&#10;            &lt;/Box&gt;&#10;&#10;            &lt;Box style={{ flexDirection: 'row', alignItems: 'center', gap: 20, paddingBottom: 14, borderBottom: '1px solid rgba(232,238,246,0.10)' }}&gt;&#10;                &lt;Text style={{ fontSize: 30, fontWeight: 'bold', color: '#2E7FE0', fontFamily: 'Consolas' }}&gt;02&lt;/Text&gt;&#10;                &lt;Box style={{ flex: 1 }}&gt;&#10;                    &lt;Text style={{ fontSize: 24, fontWeight: 'bold', color: '#E8EEF6' }}&gt;系统方案与核心能力&lt;/Text&gt;&#10;                    &lt;Text style={{ fontSize: 16, color: '#8FA9C4', lineHeight: 1.6, marginTop: 6 }}&gt;取图、判向、标定、通讯收在一条时间轴上，人只需要换配方&lt;/Text&gt;&#10;                &lt;/Box&gt;&#10;                &lt;Text style={{ fontSize: 15, color: '#4A6480', fontFamily: 'Consolas' }}&gt;P05-10&lt;/Text&gt;&#10;            &lt;/Box&gt;&#10;&#10;            &lt;Box style={{ flexDirection: 'row', alignItems: 'center', gap: 20, paddingBottom: 14, borderBottom: '1px solid rgba(232,238,246,0.10)' }}&gt;&#10;                &lt;Text style={{ fontSize: 30, fontWeight: 'bold', color: '#2E7FE0', fontFamily: 'Consolas' }}&gt;03&lt;/Text&gt;&#10;                &lt;Box style={{ flex: 1 }}&gt;&#10;                    &lt;Text style={{ fontSize: 24, fontWeight: 'bold', color: '#E8EEF6' }}&gt;关键指标与工程实证&lt;/Text&gt;&#10;                    &lt;Text style={{ fontSize: 16, color: '#8FA9C4', lineHeight: 1.6, marginTop: 6 }}&gt;耗时、提速幅度、测试覆盖，全部来自可核对的落库记录&lt;/Text&gt;&#10;                &lt;/Box&gt;&#10;                &lt;Text style={{ fontSize: 15, color: '#4A6480', fontFamily: 'Consolas' }}&gt;P11-12&lt;/Text&gt;&#10;            &lt;/Box&gt;&#10;&#10;            &lt;Box style={{ flexDirection: 'row', alignItems: 'center', gap: 20 }}&gt;&#10;                &lt;Text style={{ fontSize: 30, fontWeight: 'bold', color: '#2E7FE0', fontFamily: 'Consolas' }}&gt;04&lt;/Text&gt;&#10;                &lt;Box style={{ flex: 1 }}&gt;&#10;                    &lt;Text style={{ fontSize: 24, fontWeight: 'bold', color: '#E8EEF6' }}&gt;部署形态与服务保障&lt;/Text&gt;&#10;                    &lt;Text style={{ fontSize: 16, color: '#8FA9C4', lineHeight: 1.6, marginTop: 6 }}&gt;一台工控机、一套离线包，外加三个随时可看的远程页面&lt;/Text&gt;&#10;                &lt;/Box&gt;&#10;                &lt;Text style={{ fontSize: 15, color: '#4A6480', fontFamily: 'Consolas' }}&gt;P13-15&lt;/Text&gt;&#10;            &lt;/Box&gt;&#10;&#10;        &lt;/Box&gt;&#10;    &lt;/Box&gt;&#10;&#10;    &lt;Box style={{ height: 40, flexDirection: 'row', alignItems: 'center', justifyContent: 'space-between' }}&gt;&#10;        &lt;Text style={{ fontSize: 14, color: '#4A6480', letterSpacing: 1 }}&gt;CAV 物码绑定视觉系统&lt;/Text&gt;&#10;        &lt;Text style={{ fontSize: 14, color: '#4A6480' }}&gt;0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685800" y="561975"/>
            <a:ext cx="38100" cy="361950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95350" y="523875"/>
            <a:ext cx="7429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75">
                <a:solidFill>
                  <a:srgbClr val="E8EEF6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1962150" y="742950"/>
            <a:ext cx="9544050" cy="9525"/>
          </a:xfrm>
          <a:prstGeom prst="rect">
            <a:avLst/>
          </a:prstGeom>
          <a:solidFill>
            <a:srgbClr val="E8EEF6">
              <a:alpha val="10000"/>
            </a:srgbClr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85800" y="1390650"/>
            <a:ext cx="331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48C9B0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85800" y="1752600"/>
            <a:ext cx="3314700" cy="9048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100" b="1">
                <a:solidFill>
                  <a:srgbClr val="E8EEF6"/>
                </a:solidFill>
                <a:latin typeface="Microsoft YaHei"/>
                <a:ea typeface="Microsoft YaHei"/>
              </a:rPr>
              <a:t>四个问题</a:t>
            </a:r>
            <a:endParaRPr/>
          </a:p>
          <a:p>
            <a:pPr>
              <a:lnSpc>
                <a:spcPct val="140000"/>
              </a:lnSpc>
            </a:pPr>
            <a:r>
              <a:rPr lang="zh-CN" sz="2100" b="1">
                <a:solidFill>
                  <a:srgbClr val="E8EEF6"/>
                </a:solidFill>
                <a:latin typeface="Microsoft YaHei"/>
                <a:ea typeface="Microsoft YaHei"/>
              </a:rPr>
              <a:t>一次讲清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85800" y="2867025"/>
            <a:ext cx="457200" cy="28575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85800" y="3105150"/>
            <a:ext cx="33147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这份材料按产线上的真实顺序组织：先看现状断点，再看系统如何把它闭环，然后拿数据验证，最后落到装机与售后。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85800" y="5667375"/>
            <a:ext cx="3314700" cy="542925"/>
          </a:xfrm>
          <a:prstGeom prst="roundRect">
            <a:avLst>
              <a:gd name="adj" fmla="val 17544"/>
            </a:avLst>
          </a:prstGeom>
          <a:solidFill>
            <a:srgbClr val="2E7FE0">
              <a:alpha val="12000"/>
            </a:srgbClr>
          </a:solidFill>
          <a:ln w="12700">
            <a:solidFill>
              <a:srgbClr val="2E7FE0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57250" y="5800725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EC4EE"/>
                </a:solidFill>
                <a:latin typeface="Microsoft YaHei"/>
                <a:ea typeface="Microsoft YaHei"/>
              </a:rPr>
              <a:t>四个章节均配有产线实测记录与工程实证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4419600" y="1219200"/>
            <a:ext cx="7086600" cy="781050"/>
          </a:xfrm>
          <a:custGeom>
            <a:pathLst>
              <a:path w="744" h="82">
                <a:moveTo>
                  <a:pt x="0" y="81"/>
                </a:moveTo>
                <a:lnTo>
                  <a:pt x="744" y="81"/>
                </a:lnTo>
                <a:lnTo>
                  <a:pt x="744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8EEF6">
              <a:alpha val="10000"/>
            </a:srgbClr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419600" y="1362075"/>
            <a:ext cx="314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E7FE0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924425" y="1219200"/>
            <a:ext cx="591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6"/>
                </a:solidFill>
                <a:latin typeface="Microsoft YaHei"/>
                <a:ea typeface="Microsoft YaHei"/>
              </a:rPr>
              <a:t>产线现状与痛点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924425" y="1552575"/>
            <a:ext cx="59150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8FA9C4"/>
                </a:solidFill>
                <a:latin typeface="Microsoft YaHei"/>
                <a:ea typeface="Microsoft YaHei"/>
              </a:rPr>
              <a:t>人工判向、事后配对、换型停工——三个断点各自吃掉一段节拍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029950" y="1447800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6480"/>
                </a:solidFill>
                <a:latin typeface="Consolas"/>
                <a:ea typeface="Consolas"/>
              </a:rPr>
              <a:t>P03-04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4419600" y="2676525"/>
            <a:ext cx="7086600" cy="781050"/>
          </a:xfrm>
          <a:custGeom>
            <a:pathLst>
              <a:path w="744" h="82">
                <a:moveTo>
                  <a:pt x="0" y="81"/>
                </a:moveTo>
                <a:lnTo>
                  <a:pt x="744" y="81"/>
                </a:lnTo>
                <a:lnTo>
                  <a:pt x="744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8EEF6">
              <a:alpha val="10000"/>
            </a:srgbClr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419600" y="2819400"/>
            <a:ext cx="314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E7FE0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924425" y="2676525"/>
            <a:ext cx="591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6"/>
                </a:solidFill>
                <a:latin typeface="Microsoft YaHei"/>
                <a:ea typeface="Microsoft YaHei"/>
              </a:rPr>
              <a:t>系统方案与核心能力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924425" y="3009900"/>
            <a:ext cx="59150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8FA9C4"/>
                </a:solidFill>
                <a:latin typeface="Microsoft YaHei"/>
                <a:ea typeface="Microsoft YaHei"/>
              </a:rPr>
              <a:t>取图、判向、标定、通讯收在一条时间轴上，人只需要换配方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029950" y="290512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6480"/>
                </a:solidFill>
                <a:latin typeface="Consolas"/>
                <a:ea typeface="Consolas"/>
              </a:rPr>
              <a:t>P05-10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4419600" y="4124325"/>
            <a:ext cx="7086600" cy="781050"/>
          </a:xfrm>
          <a:custGeom>
            <a:pathLst>
              <a:path w="744" h="82">
                <a:moveTo>
                  <a:pt x="0" y="81"/>
                </a:moveTo>
                <a:lnTo>
                  <a:pt x="744" y="81"/>
                </a:lnTo>
                <a:lnTo>
                  <a:pt x="744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8EEF6">
              <a:alpha val="10000"/>
            </a:srgbClr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419600" y="4267200"/>
            <a:ext cx="314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E7FE0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924425" y="4124325"/>
            <a:ext cx="591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6"/>
                </a:solidFill>
                <a:latin typeface="Microsoft YaHei"/>
                <a:ea typeface="Microsoft YaHei"/>
              </a:rPr>
              <a:t>关键指标与工程实证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924425" y="4457700"/>
            <a:ext cx="59150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8FA9C4"/>
                </a:solidFill>
                <a:latin typeface="Microsoft YaHei"/>
                <a:ea typeface="Microsoft YaHei"/>
              </a:rPr>
              <a:t>耗时、提速幅度、测试覆盖，全部来自可核对的落库记录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029950" y="435292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6480"/>
                </a:solidFill>
                <a:latin typeface="Consolas"/>
                <a:ea typeface="Consolas"/>
              </a:rPr>
              <a:t>P11-12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419600" y="5724525"/>
            <a:ext cx="314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E7FE0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924425" y="5581650"/>
            <a:ext cx="5915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6"/>
                </a:solidFill>
                <a:latin typeface="Microsoft YaHei"/>
                <a:ea typeface="Microsoft YaHei"/>
              </a:rPr>
              <a:t>部署形态与服务保障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924425" y="5915025"/>
            <a:ext cx="59150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8FA9C4"/>
                </a:solidFill>
                <a:latin typeface="Microsoft YaHei"/>
                <a:ea typeface="Microsoft YaHei"/>
              </a:rPr>
              <a:t>一台工控机、一套离线包，外加三个随时可看的远程页面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029950" y="5810250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6480"/>
                </a:solidFill>
                <a:latin typeface="Consolas"/>
                <a:ea typeface="Consolas"/>
              </a:rPr>
              <a:t>P13-15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4A6480"/>
                </a:solidFill>
                <a:latin typeface="Microsoft YaHei"/>
                <a:ea typeface="Microsoft YaHei"/>
              </a:rPr>
              <a:t xml:space="preserve">CAV </a:t>
            </a:r>
            <a:r>
              <a:rPr lang="zh-CN" sz="1050" spc="75">
                <a:solidFill>
                  <a:srgbClr val="4A6480"/>
                </a:solidFill>
                <a:latin typeface="Microsoft YaHei"/>
                <a:ea typeface="Microsoft YaHei"/>
              </a:rPr>
              <a:t>物码绑定视觉系统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049000" y="6324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6480"/>
                </a:solidFill>
                <a:latin typeface="Microsoft YaHei"/>
                <a:ea typeface="Microsoft YaHei"/>
              </a:rPr>
              <a:t>02 / 16</a:t>
            </a:r>
            <a:endParaRPr/>
          </a:p>
        </p:txBody>
      </p:sp>
      <p:pic>
        <p:nvPicPr>
          <p:cNvPr id="246" name=""/>
          <p:cNvPicPr>
            <a:picLocks noChangeAspect="1"/>
          </p:cNvPicPr>
          <p:nvPr/>
        </p:nvPicPr>
        <p:blipFill>
          <a:blip r:embed="rId1">
            <a:alphaModFix amt="9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287000" y="4953000"/>
            <a:ext cx="1905000" cy="1905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47" name="" descr="&lt;Slide style={{ width: 1280, height: 720, background: '#0B1B2B', position: 'relative', overflow: 'hidden', padding: 0 }}&gt;&#10;    &lt;Box style={{ position: 'absolute', right: 0, top: 0, width: 520, height: 720 }}&gt;&#10;        &lt;svg width='520' height='720' viewBox='0 0 520 720'&gt;&#10;            &lt;path d='M150 0 L520 0 L520 720 L20 720 Z' fill='#12293F' /&gt;&#10;            &lt;path d='M248 0 L286 0 L116 720 L78 720 Z' fill='rgba(46,127,224,0.45)' /&gt;&#10;            &lt;path d='M336 0 L350 0 L180 720 L166 720 Z' fill='rgba(72,201,176,0.35)' /&gt;&#10;            &lt;path d='M406 0 L414 0 L244 720 L236 720 Z' fill='rgba(242,179,61,0.30)' /&gt;&#10;            &lt;circle cx='470' cy='300' r='210' fill='none' stroke='rgba(46,127,224,0.30)' strokeWidth='1.5' /&gt;&#10;            &lt;circle cx='470' cy='300' r='150' fill='none' stroke='rgba(46,127,224,0.22)' strokeWidth='1.5' /&gt;&#10;            &lt;circle cx='470' cy='300' r='92' fill='none' stroke='rgba(72,201,176,0.22)' strokeWidth='1.5' /&gt;&#10;        &lt;/svg&gt;&#10;    &lt;/Box&gt;&#10;    &lt;Box style={{ position: 'absolute', left: 0, top: 0, width: 640, height: 720, background: 'linear-gradient(90deg, rgba(11,27,43,1) 0%, rgba(11,27,43,0.92) 60%, rgba(11,27,43,0) 100%)' }} /&gt;&#10;&#10;    &lt;Box style={{ position: 'relative', zIndex: 1, height: 720, padding: '150px 96px 0' }}&gt;&#10;        &lt;Text style={{ fontSize: 118, fontWeight: 'bold', fontFamily: 'Consolas', lineHeight: 1, color: '#2E7FE0' }}&gt;01&lt;/Text&gt;&#10;        &lt;Text style={{ fontSize: 16, color: '#48C9B0', letterSpacing: 4, fontWeight: 'bold', marginTop: 34 }}&gt;SECTION 01&lt;/Text&gt;&#10;        &lt;Text style={{ fontSize: 66, fontWeight: 'bold', color: '#E8EEF6', lineHeight: 1.1, letterSpacing: 3, marginTop: 16 }}&gt;产线现状与痛点&lt;/Text&gt;&#10;        &lt;Box style={{ width: 56, height: 4, background: '#F2B33D', marginTop: 30, marginBottom: 28 }} /&gt;&#10;        &lt;Text style={{ fontSize: 22, color: '#8FA9C4', lineHeight: 1.7, width: 620 }}&gt;&#10;            人工判向与事后绑定，是这条产线上最难标准化的一环。&#10;        &lt;/Text&gt;&#10;    &lt;/Box&gt;&#10;&#10;    &lt;Box style={{ position: 'absolute', left: 96, bottom: 88, flexDirection: 'row', alignItems: 'center', gap: 10 }}&gt;&#10;        &lt;Box style={{ width: 56, height: 4, borderRadius: 2, background: '#2E7FE0' }} /&gt;&#10;        &lt;Box style={{ width: 20, height: 4, borderRadius: 2, background: 'rgba(232,238,246,0.18)' }} /&gt;&#10;        &lt;Box style={{ width: 20, height: 4, borderRadius: 2, background: 'rgba(232,238,246,0.18)' }} /&gt;&#10;        &lt;Box style={{ width: 20, height: 4, borderRadius: 2, background: 'rgba(232,238,246,0.18)' }} /&gt;&#10;        &lt;Text style={{ fontSize: 14, color: '#4A6480', letterSpacing: 2, marginLeft: 12 }}&gt;1 / 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pic>
        <p:nvPicPr>
          <p:cNvPr id="249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0" y="0"/>
            <a:ext cx="4953000" cy="6858000"/>
          </a:xfrm>
          <a:prstGeom prst="rect">
            <a:avLst/>
          </a:prstGeom>
          <a:ln/>
        </p:spPr>
      </p:pic>
      <p:sp>
        <p:nvSpPr>
          <p:cNvPr id="250" name=""/>
          <p:cNvSpPr/>
          <p:nvPr/>
        </p:nvSpPr>
        <p:spPr>
          <a:xfrm rot="0" flipH="0" flipV="0">
            <a:off x="0" y="0"/>
            <a:ext cx="6096000" cy="6858000"/>
          </a:xfrm>
          <a:prstGeom prst="rect">
            <a:avLst/>
          </a:prstGeom>
          <a:gradFill>
            <a:gsLst>
              <a:gs pos="0">
                <a:srgbClr val="0B1B2B">
                  <a:alpha val="100000"/>
                </a:srgbClr>
              </a:gs>
              <a:gs pos="60000">
                <a:srgbClr val="0B1B2B">
                  <a:alpha val="92000"/>
                </a:srgbClr>
              </a:gs>
              <a:gs pos="100000">
                <a:srgbClr val="0B1B2B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914400" y="59245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1543050" y="5924550"/>
            <a:ext cx="190500" cy="38100"/>
          </a:xfrm>
          <a:prstGeom prst="roundRect">
            <a:avLst>
              <a:gd name="adj" fmla="val 50000"/>
            </a:avLst>
          </a:prstGeom>
          <a:solidFill>
            <a:srgbClr val="E8EEF6">
              <a:alpha val="18000"/>
            </a:srgbClr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1828800" y="5924550"/>
            <a:ext cx="190500" cy="38100"/>
          </a:xfrm>
          <a:prstGeom prst="roundRect">
            <a:avLst>
              <a:gd name="adj" fmla="val 50000"/>
            </a:avLst>
          </a:prstGeom>
          <a:solidFill>
            <a:srgbClr val="E8EEF6">
              <a:alpha val="18000"/>
            </a:srgbClr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2114550" y="5924550"/>
            <a:ext cx="190500" cy="38100"/>
          </a:xfrm>
          <a:prstGeom prst="roundRect">
            <a:avLst>
              <a:gd name="adj" fmla="val 50000"/>
            </a:avLst>
          </a:prstGeom>
          <a:solidFill>
            <a:srgbClr val="E8EEF6">
              <a:alpha val="18000"/>
            </a:srgbClr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2514600" y="585787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4A6480"/>
                </a:solidFill>
                <a:latin typeface="Microsoft YaHei"/>
                <a:ea typeface="Microsoft YaHei"/>
              </a:rPr>
              <a:t>1 / 4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14400" y="1428750"/>
            <a:ext cx="10363200" cy="1352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850" b="1">
                <a:solidFill>
                  <a:srgbClr val="2E7FE0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14400" y="310515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48C9B0"/>
                </a:solidFill>
                <a:latin typeface="Microsoft YaHei"/>
                <a:ea typeface="Microsoft YaHei"/>
              </a:rPr>
              <a:t>SECTION 01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914400" y="3448050"/>
            <a:ext cx="10363200" cy="8382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950" b="1" spc="225">
                <a:solidFill>
                  <a:srgbClr val="E8EEF6"/>
                </a:solidFill>
                <a:latin typeface="Microsoft YaHei"/>
                <a:ea typeface="Microsoft YaHei"/>
              </a:rPr>
              <a:t>产线现状与痛点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914400" y="4572000"/>
            <a:ext cx="533400" cy="38100"/>
          </a:xfrm>
          <a:prstGeom prst="rect">
            <a:avLst/>
          </a:prstGeom>
          <a:solidFill>
            <a:srgbClr val="F2B33D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14400" y="4876800"/>
            <a:ext cx="59055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8FA9C4"/>
                </a:solidFill>
                <a:latin typeface="Microsoft YaHei"/>
                <a:ea typeface="Microsoft YaHei"/>
              </a:rPr>
              <a:t>人工判向与事后绑定，是这条产线上最难标准化的一环。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1" name="" descr="&lt;Slide style={{ width: 1280, height: 720, background: '#0B1B2B', padding: '28px 72px', position: 'relative', overflow: 'hidden' }}&gt;&#10;    &lt;Box style={{ position: 'absolute', right: 0, bottom: 0, opacity: 0.09 }}&gt;&#10;        &lt;svg width='200' height='200' viewBox='0 0 200 200'&gt;&#10;            &lt;circle cx='200' cy='0' r='196' fill='none' stroke='#2E7FE0' strokeWidth='2' /&gt;&#10;            &lt;circle cx='200' cy='0' r='150' fill='none' stroke='#2E7FE0' strokeWidth='1.5' /&gt;&#10;            &lt;circle cx='200' cy='0' r='104' fill='none' stroke='#48C9B0' strokeWidth='1.5' /&gt;&#10;        &lt;/svg&gt;&#10;    &lt;/Box&gt;&#10;&#10;    &lt;Box style={{ height: 100, flexDirection: 'row', alignItems: 'center', gap: 18 }}&gt;&#10;        &lt;Box style={{ width: 4, height: 38, background: '#2E7FE0' }} /&gt;&#10;        &lt;Text style={{ fontSize: 38, fontWeight: 'bold', color: '#E8EEF6', letterSpacing: 1 }}&gt;三个断点，让物码绑定无法标准化&lt;/Text&gt;&#10;    &lt;/Box&gt;&#10;&#10;    &lt;Box style={{ height: 524, flexDirection: 'row', gap: 36 }}&gt;&#10;&#10;        &lt;Box style={{ flex: 1, gap: 12 }}&gt;&#10;            &lt;Box style={{ padding: '16px 20px', background: 'rgba(18,41,63,0.88)', borderRadius: 10, border: '1px solid rgba(232,238,246,0.10)' }}&gt;&#10;                &lt;Box style={{ flexDirection: 'row', alignItems: 'center', gap: 12 }}&gt;&#10;                    &lt;Box style={{ width: 26, height: 26, borderRadius: 6, background: 'rgba(242,179,61,0.18)', justifyContent: 'center', alignItems: 'center' }}&gt;&#10;                        &lt;Text style={{ fontSize: 16, fontWeight: 'bold', color: '#F2B33D', fontFamily: 'Consolas' }}&gt;1&lt;/Text&gt;&#10;                    &lt;/Box&gt;&#10;                    &lt;Text style={{ fontSize: 20, fontWeight: 'bold', color: '#E8EEF6' }}&gt;头尾靠人眼判&lt;/Text&gt;&#10;                &lt;/Box&gt;&#10;                &lt;Box style={{ flexDirection: 'row', alignItems: 'center', gap: 8, marginTop: 12 }}&gt;&#10;                    &lt;Box style={{ padding: '4px 10px', borderRadius: 4, background: 'rgba(46,127,224,0.16)' }}&gt;&#10;                        &lt;Text style={{ fontSize: 14, color: '#9EC4EE' }}&gt;产品到位&lt;/Text&gt;&#10;                    &lt;/Box&gt;&#10;                    &lt;FAIcon name='arrow-right' style={{ fill: '#4A6480', width: 12, height: 12 }} /&gt;&#10;                    &lt;Box style={{ padding: '4px 10px', borderRadius: 4, background: 'rgba(46,127,224,0.16)' }}&gt;&#10;                        &lt;Text style={{ fontSize: 14, color: '#9EC4EE' }}&gt;人眼判方向&lt;/Text&gt;&#10;                    &lt;/Box&gt;&#10;                    &lt;Box style={{ width: 22, height: 22, borderRadius: 11, background: 'rgba(226,75,74,0.22)', justifyContent: 'center', alignItems: 'center' }}&gt;&#10;                        &lt;FAIcon name='times' style={{ fill: '#E2645A', width: 10, height: 10 }} /&gt;&#10;                    &lt;/Box&gt;&#10;                    &lt;Box style={{ padding: '4px 10px', borderRadius: 4, background: 'rgba(46,127,224,0.16)' }}&gt;&#10;                        &lt;Text style={{ fontSize: 14, color: '#9EC4EE' }}&gt;决定打码角度&lt;/Text&gt;&#10;                    &lt;/Box&gt;&#10;                &lt;/Box&gt;&#10;                &lt;Text style={{ fontSize: 15, color: '#8FA9C4', lineHeight: 1.6, marginTop: 10 }}&gt;&#10;                    同向摆放尚可，混向投放时判错概率陡升；打码角度一旦错，整件报废且只能事后发现。&#10;                &lt;/Text&gt;&#10;            &lt;/Box&gt;&#10;&#10;            &lt;Box style={{ padding: '16px 20px', background: 'rgba(18,41,63,0.88)', borderRadius: 10, border: '1px solid rgba(232,238,246,0.10)' }}&gt;&#10;                &lt;Box style={{ flexDirection: 'row', alignItems: 'center', gap: 12 }}&gt;&#10;                    &lt;Box style={{ width: 26, height: 26, borderRadius: 6, background: 'rgba(242,179,61,0.18)', justifyContent: 'center', alignItems: 'center' }}&gt;&#10;                        &lt;Text style={{ fontSize: 16, fontWeight: 'bold', color: '#F2B33D', fontFamily: 'Consolas' }}&gt;2&lt;/Text&gt;&#10;                    &lt;/Box&gt;&#10;                    &lt;Text style={{ fontSize: 20, fontWeight: 'bold', color: '#E8EEF6' }}&gt;条码与图像不同帧&lt;/Text&gt;&#10;                &lt;/Box&gt;&#10;                &lt;Box style={{ flexDirection: 'row', alignItems: 'center', gap: 8, marginTop: 12 }}&gt;&#10;                    &lt;Box style={{ padding: '4px 10px', borderRadius: 4, background: 'rgba(46,127,224,0.16)' }}&gt;&#10;                        &lt;Text style={{ fontSize: 14, color: '#9EC4EE' }}&gt;相机取图&lt;/Text&gt;&#10;                    &lt;/Box&gt;&#10;                    &lt;FAIcon name='arrow-right' style={{ fill: '#4A6480', width: 12, height: 12 }} /&gt;&#10;                    &lt;Box style={{ padding: '4px 10px', borderRadius: 4, background: 'rgba(46,127,224,0.16)' }}&gt;&#10;                        &lt;Text style={{ fontSize: 14, color: '#9EC4EE' }}&gt;条码读出&lt;/Text&gt;&#10;                    &lt;/Box&gt;&#10;                    &lt;Box style={{ width: 22, height: 22, borderRadius: 11, background: 'rgba(226,75,74,0.22)', justifyContent: 'center', alignItems: 'center' }}&gt;&#10;                        &lt;FAIcon name='times' style={{ fill: '#E2645A', width: 10, height: 10 }} /&gt;&#10;                    &lt;/Box&gt;&#10;                    &lt;Box style={{ padding: '4px 10px', borderRadius: 4, background: 'rgba(46,127,224,0.16)' }}&gt;&#10;                        &lt;Text style={{ fontSize: 14, color: '#9EC4EE' }}&gt;按时间戳配对&lt;/Text&gt;&#10;                    &lt;/Box&gt;&#10;                &lt;/Box&gt;&#10;                &lt;Text style={{ fontSize: 15, color: '#8FA9C4', lineHeight: 1.6, marginTop: 10 }}&gt;&#10;                    两者分别到达，只能事后按时间戳凑对；高速线上必然错配，追溯链从源头就是假的。&#10;                &lt;/Text&gt;&#10;            &lt;/Box&gt;&#10;&#10;            &lt;Box style={{ padding: '16px 20px', background: 'rgba(18,41,63,0.88)', borderRadius: 10, border: '1px solid rgba(232,238,246,0.10)' }}&gt;&#10;                &lt;Box style={{ flexDirection: 'row', alignItems: 'center', gap: 12 }}&gt;&#10;                    &lt;Box style={{ width: 26, height: 26, borderRadius: 6, background: 'rgba(242,179,61,0.18)', justifyContent: 'center', alignItems: 'center' }}&gt;&#10;                        &lt;Text style={{ fontSize: 16, fontWeight: 'bold', color: '#F2B33D', fontFamily: 'Consolas' }}&gt;3&lt;/Text&gt;&#10;                    &lt;/Box&gt;&#10;                    &lt;Text style={{ fontSize: 20, fontWeight: 'bold', color: '#E8EEF6' }}&gt;换产品等于停工&lt;/Text&gt;&#10;                &lt;/Box&gt;&#10;                &lt;Box style={{ flexDirection: 'row', alignItems: 'center', gap: 8, marginTop: 12 }}&gt;&#10;                    &lt;Box style={{ padding: '4px 10px', borderRadius: 4, background: 'rgba(46,127,224,0.16)' }}&gt;&#10;                        &lt;Text style={{ fontSize: 14, color: '#9EC4EE' }}&gt;切换产品&lt;/Text&gt;&#10;                    &lt;/Box&gt;&#10;                    &lt;FAIcon name='arrow-right' style={{ fill: '#4A6480', width: 12, height: 12 }} /&gt;&#10;                    &lt;Box style={{ padding: '4px 10px', borderRadius: 4, background: 'rgba(46,127,224,0.16)' }}&gt;&#10;                        &lt;Text style={{ fontSize: 14, color: '#9EC4EE' }}&gt;设备侧改参数&lt;/Text&gt;&#10;                    &lt;/Box&gt;&#10;                    &lt;Box style={{ width: 22, height: 22, borderRadius: 11, background: 'rgba(226,75,74,0.22)', justifyContent: 'center', alignItems: 'center' }}&gt;&#10;                        &lt;FAIcon name='times' style={{ fill: '#E2645A', width: 10, height: 10 }} /&gt;&#10;                    &lt;/Box&gt;&#10;                    &lt;Box style={{ padding: '4px 10px', borderRadius: 4, background: 'rgba(46,127,224,0.16)' }}&gt;&#10;                        &lt;Text style={{ fontSize: 14, color: '#9EC4EE' }}&gt;试凑到合格&lt;/Text&gt;&#10;                    &lt;/Box&gt;&#10;                &lt;/Box&gt;&#10;                &lt;Text style={{ fontSize: 15, color: '#8FA9C4', lineHeight: 1.6, marginTop: 10 }}&gt;&#10;                    检测阈值与标定参数散落在设备侧，换型靠老师傅试凑，耗时不可控也无法复制。&#10;                &lt;/Text&gt;&#10;            &lt;/Box&gt;&#10;        &lt;/Box&gt;&#10;&#10;        &lt;Box style={{ width: 372, justifyContent: 'space-between' }}&gt;&#10;            &lt;Box&gt;&#10;                &lt;Text style={{ fontSize: 16, color: '#48C9B0', letterSpacing: 3, fontWeight: 'bold' }}&gt;WHY IT MATTERS&lt;/Text&gt;&#10;                &lt;Text style={{ fontSize: 26, fontWeight: 'bold', color: '#E8EEF6', lineHeight: 1.45, marginTop: 18 }}&gt;&#10;                    三个断点&#10;                    &lt;br /&gt;&#10;                    一个共同后果&#10;                &lt;/Text&gt;&#10;                &lt;Box style={{ width: 48, height: 3, background: '#2E7FE0', marginTop: 20, marginBottom: 20 }} /&gt;&#10;                &lt;Text style={{ fontSize: 17, color: '#8FA9C4', lineHeight: 1.9 }}&gt;&#10;                    错判不可回退——打码之后才发现；&#10;                    &lt;br /&gt;&#10;                    错配不可追溯——配对依据本身不可靠；&#10;                    &lt;br /&gt;&#10;                    换型不可复制——经验留在人身上。&#10;                    &lt;br /&gt;&#10;                    三者叠加，质量数据就无法作为证据使用。&#10;                &lt;/Text&gt;&#10;            &lt;/Box&gt;&#10;            &lt;Box style={{ padding: '16px 20px', borderRadius: 10, background: 'rgba(46,127,224,0.12)', borderLeft: '3px solid #F2B33D' }}&gt;&#10;                &lt;Text style={{ fontSize: 16, color: '#C6D6E6', lineHeight: 1.75 }}&gt;&#10;                    缺的不是人手，而是一条把取图、判向、标定、通讯串在同一时间轴上的系统。&#10;                &lt;/Text&gt;&#10;            &lt;/Box&gt;&#10;        &lt;/Box&gt;&#10;&#10;    &lt;/Box&gt;&#10;&#10;    &lt;Box style={{ height: 40, flexDirection: 'row', alignItems: 'center', justifyContent: 'space-between' }}&gt;&#10;        &lt;Text style={{ fontSize: 14, color: '#4A6480', letterSpacing: 1 }}&gt;CAV 物码绑定视觉系统&lt;/Text&gt;&#10;        &lt;Text style={{ fontSize: 14, color: '#4A6480' }}&gt;0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685800" y="561975"/>
            <a:ext cx="38100" cy="361950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95350" y="523875"/>
            <a:ext cx="55721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75">
                <a:solidFill>
                  <a:srgbClr val="E8EEF6"/>
                </a:solidFill>
                <a:latin typeface="Microsoft YaHei"/>
                <a:ea typeface="Microsoft YaHei"/>
              </a:rPr>
              <a:t>三个断点，让物码绑定无法标准化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85800" y="1219200"/>
            <a:ext cx="6934200" cy="1276350"/>
          </a:xfrm>
          <a:prstGeom prst="roundRect">
            <a:avLst>
              <a:gd name="adj" fmla="val 7463"/>
            </a:avLst>
          </a:prstGeom>
          <a:solidFill>
            <a:srgbClr val="12293F">
              <a:alpha val="88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876300" y="13716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2B33D">
              <a:alpha val="18000"/>
            </a:srgbClr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62025" y="1400175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2B33D"/>
                </a:solidFill>
                <a:latin typeface="Consolas"/>
                <a:ea typeface="Consolas"/>
              </a:rPr>
              <a:t>1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238250" y="138112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6"/>
                </a:solidFill>
                <a:latin typeface="Microsoft YaHei"/>
                <a:ea typeface="Microsoft YaHei"/>
              </a:rPr>
              <a:t>头尾靠人眼判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876300" y="1733550"/>
            <a:ext cx="723900" cy="238125"/>
          </a:xfrm>
          <a:prstGeom prst="roundRect">
            <a:avLst>
              <a:gd name="adj" fmla="val 16000"/>
            </a:avLst>
          </a:prstGeom>
          <a:solidFill>
            <a:srgbClr val="2E7FE0">
              <a:alpha val="16000"/>
            </a:srgbClr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71550" y="17716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EC4EE"/>
                </a:solidFill>
                <a:latin typeface="Microsoft YaHei"/>
                <a:ea typeface="Microsoft YaHei"/>
              </a:rPr>
              <a:t>产品到位</a:t>
            </a:r>
            <a:endParaRPr/>
          </a:p>
        </p:txBody>
      </p:sp>
      <p:pic>
        <p:nvPicPr>
          <p:cNvPr id="271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676400" y="1800225"/>
            <a:ext cx="114300" cy="114300"/>
          </a:xfrm>
          <a:prstGeom prst="rect">
            <a:avLst/>
          </a:prstGeom>
          <a:ln/>
        </p:spPr>
      </p:pic>
      <p:sp>
        <p:nvSpPr>
          <p:cNvPr id="272" name=""/>
          <p:cNvSpPr/>
          <p:nvPr/>
        </p:nvSpPr>
        <p:spPr>
          <a:xfrm rot="0" flipH="0" flipV="0">
            <a:off x="1866900" y="1733550"/>
            <a:ext cx="857250" cy="238125"/>
          </a:xfrm>
          <a:prstGeom prst="roundRect">
            <a:avLst>
              <a:gd name="adj" fmla="val 16000"/>
            </a:avLst>
          </a:prstGeom>
          <a:solidFill>
            <a:srgbClr val="2E7FE0">
              <a:alpha val="16000"/>
            </a:srgbClr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962150" y="17716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EC4EE"/>
                </a:solidFill>
                <a:latin typeface="Microsoft YaHei"/>
                <a:ea typeface="Microsoft YaHei"/>
              </a:rPr>
              <a:t>人眼判方向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2800350" y="1752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24B4A">
              <a:alpha val="22000"/>
            </a:srgbClr>
          </a:solidFill>
          <a:ln/>
        </p:spPr>
        <p:txBody>
          <a:bodyPr/>
          <a:p/>
        </p:txBody>
      </p:sp>
      <p:pic>
        <p:nvPicPr>
          <p:cNvPr id="275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857500" y="1809750"/>
            <a:ext cx="95250" cy="95250"/>
          </a:xfrm>
          <a:prstGeom prst="rect">
            <a:avLst/>
          </a:prstGeom>
          <a:ln/>
        </p:spPr>
      </p:pic>
      <p:sp>
        <p:nvSpPr>
          <p:cNvPr id="276" name=""/>
          <p:cNvSpPr/>
          <p:nvPr/>
        </p:nvSpPr>
        <p:spPr>
          <a:xfrm rot="0" flipH="0" flipV="0">
            <a:off x="3086100" y="1733550"/>
            <a:ext cx="990600" cy="238125"/>
          </a:xfrm>
          <a:prstGeom prst="roundRect">
            <a:avLst>
              <a:gd name="adj" fmla="val 16000"/>
            </a:avLst>
          </a:prstGeom>
          <a:solidFill>
            <a:srgbClr val="2E7FE0">
              <a:alpha val="16000"/>
            </a:srgbClr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181350" y="17716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EC4EE"/>
                </a:solidFill>
                <a:latin typeface="Microsoft YaHei"/>
                <a:ea typeface="Microsoft YaHei"/>
              </a:rPr>
              <a:t>决定打码角度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76300" y="2066925"/>
            <a:ext cx="6553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同向摆放尚可，混向投放时判错概率陡升；打码角度一旦错，整件报废且只能事后发现。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85800" y="2609850"/>
            <a:ext cx="6934200" cy="1276350"/>
          </a:xfrm>
          <a:prstGeom prst="roundRect">
            <a:avLst>
              <a:gd name="adj" fmla="val 7463"/>
            </a:avLst>
          </a:prstGeom>
          <a:solidFill>
            <a:srgbClr val="12293F">
              <a:alpha val="88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876300" y="27622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2B33D">
              <a:alpha val="18000"/>
            </a:srgbClr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62025" y="2790825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2B33D"/>
                </a:solidFill>
                <a:latin typeface="Consolas"/>
                <a:ea typeface="Consolas"/>
              </a:rPr>
              <a:t>2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238250" y="277177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6"/>
                </a:solidFill>
                <a:latin typeface="Microsoft YaHei"/>
                <a:ea typeface="Microsoft YaHei"/>
              </a:rPr>
              <a:t>条码与图像不同帧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876300" y="3124200"/>
            <a:ext cx="723900" cy="238125"/>
          </a:xfrm>
          <a:prstGeom prst="roundRect">
            <a:avLst>
              <a:gd name="adj" fmla="val 16000"/>
            </a:avLst>
          </a:prstGeom>
          <a:solidFill>
            <a:srgbClr val="2E7FE0">
              <a:alpha val="16000"/>
            </a:srgbClr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971550" y="31623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EC4EE"/>
                </a:solidFill>
                <a:latin typeface="Microsoft YaHei"/>
                <a:ea typeface="Microsoft YaHei"/>
              </a:rPr>
              <a:t>相机取图</a:t>
            </a:r>
            <a:endParaRPr/>
          </a:p>
        </p:txBody>
      </p:sp>
      <p:pic>
        <p:nvPicPr>
          <p:cNvPr id="285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676400" y="3190875"/>
            <a:ext cx="114300" cy="114300"/>
          </a:xfrm>
          <a:prstGeom prst="rect">
            <a:avLst/>
          </a:prstGeom>
          <a:ln/>
        </p:spPr>
      </p:pic>
      <p:sp>
        <p:nvSpPr>
          <p:cNvPr id="286" name=""/>
          <p:cNvSpPr/>
          <p:nvPr/>
        </p:nvSpPr>
        <p:spPr>
          <a:xfrm rot="0" flipH="0" flipV="0">
            <a:off x="1866900" y="3124200"/>
            <a:ext cx="723900" cy="238125"/>
          </a:xfrm>
          <a:prstGeom prst="roundRect">
            <a:avLst>
              <a:gd name="adj" fmla="val 16000"/>
            </a:avLst>
          </a:prstGeom>
          <a:solidFill>
            <a:srgbClr val="2E7FE0">
              <a:alpha val="16000"/>
            </a:srgbClr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962150" y="31623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EC4EE"/>
                </a:solidFill>
                <a:latin typeface="Microsoft YaHei"/>
                <a:ea typeface="Microsoft YaHei"/>
              </a:rPr>
              <a:t>条码读出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2667000" y="3143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24B4A">
              <a:alpha val="22000"/>
            </a:srgbClr>
          </a:solidFill>
          <a:ln/>
        </p:spPr>
        <p:txBody>
          <a:bodyPr/>
          <a:p/>
        </p:txBody>
      </p:sp>
      <p:pic>
        <p:nvPicPr>
          <p:cNvPr id="289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724150" y="3200400"/>
            <a:ext cx="95250" cy="95250"/>
          </a:xfrm>
          <a:prstGeom prst="rect">
            <a:avLst/>
          </a:prstGeom>
          <a:ln/>
        </p:spPr>
      </p:pic>
      <p:sp>
        <p:nvSpPr>
          <p:cNvPr id="290" name=""/>
          <p:cNvSpPr/>
          <p:nvPr/>
        </p:nvSpPr>
        <p:spPr>
          <a:xfrm rot="0" flipH="0" flipV="0">
            <a:off x="2952750" y="3124200"/>
            <a:ext cx="990600" cy="238125"/>
          </a:xfrm>
          <a:prstGeom prst="roundRect">
            <a:avLst>
              <a:gd name="adj" fmla="val 16000"/>
            </a:avLst>
          </a:prstGeom>
          <a:solidFill>
            <a:srgbClr val="2E7FE0">
              <a:alpha val="16000"/>
            </a:srgbClr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3048000" y="31623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EC4EE"/>
                </a:solidFill>
                <a:latin typeface="Microsoft YaHei"/>
                <a:ea typeface="Microsoft YaHei"/>
              </a:rPr>
              <a:t>按时间戳配对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76300" y="3457575"/>
            <a:ext cx="6553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两者分别到达，只能事后按时间戳凑对；高速线上必然错配，追溯链从源头就是假的。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85800" y="4000500"/>
            <a:ext cx="6934200" cy="1276350"/>
          </a:xfrm>
          <a:prstGeom prst="roundRect">
            <a:avLst>
              <a:gd name="adj" fmla="val 7463"/>
            </a:avLst>
          </a:prstGeom>
          <a:solidFill>
            <a:srgbClr val="12293F">
              <a:alpha val="88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876300" y="41529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2B33D">
              <a:alpha val="18000"/>
            </a:srgbClr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62025" y="4181475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2B33D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238250" y="4162425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6"/>
                </a:solidFill>
                <a:latin typeface="Microsoft YaHei"/>
                <a:ea typeface="Microsoft YaHei"/>
              </a:rPr>
              <a:t>换产品等于停工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76300" y="4514850"/>
            <a:ext cx="723900" cy="238125"/>
          </a:xfrm>
          <a:prstGeom prst="roundRect">
            <a:avLst>
              <a:gd name="adj" fmla="val 16000"/>
            </a:avLst>
          </a:prstGeom>
          <a:solidFill>
            <a:srgbClr val="2E7FE0">
              <a:alpha val="16000"/>
            </a:srgbClr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71550" y="45529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EC4EE"/>
                </a:solidFill>
                <a:latin typeface="Microsoft YaHei"/>
                <a:ea typeface="Microsoft YaHei"/>
              </a:rPr>
              <a:t>切换产品</a:t>
            </a:r>
            <a:endParaRPr/>
          </a:p>
        </p:txBody>
      </p:sp>
      <p:pic>
        <p:nvPicPr>
          <p:cNvPr id="299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676400" y="4581525"/>
            <a:ext cx="114300" cy="114300"/>
          </a:xfrm>
          <a:prstGeom prst="rect">
            <a:avLst/>
          </a:prstGeom>
          <a:ln/>
        </p:spPr>
      </p:pic>
      <p:sp>
        <p:nvSpPr>
          <p:cNvPr id="300" name=""/>
          <p:cNvSpPr/>
          <p:nvPr/>
        </p:nvSpPr>
        <p:spPr>
          <a:xfrm rot="0" flipH="0" flipV="0">
            <a:off x="1866900" y="4514850"/>
            <a:ext cx="990600" cy="238125"/>
          </a:xfrm>
          <a:prstGeom prst="roundRect">
            <a:avLst>
              <a:gd name="adj" fmla="val 16000"/>
            </a:avLst>
          </a:prstGeom>
          <a:solidFill>
            <a:srgbClr val="2E7FE0">
              <a:alpha val="16000"/>
            </a:srgbClr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962150" y="45529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EC4EE"/>
                </a:solidFill>
                <a:latin typeface="Microsoft YaHei"/>
                <a:ea typeface="Microsoft YaHei"/>
              </a:rPr>
              <a:t>设备侧改参数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2933700" y="45339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24B4A">
              <a:alpha val="22000"/>
            </a:srgbClr>
          </a:solidFill>
          <a:ln/>
        </p:spPr>
        <p:txBody>
          <a:bodyPr/>
          <a:p/>
        </p:txBody>
      </p:sp>
      <p:pic>
        <p:nvPicPr>
          <p:cNvPr id="303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990850" y="4591050"/>
            <a:ext cx="95250" cy="95250"/>
          </a:xfrm>
          <a:prstGeom prst="rect">
            <a:avLst/>
          </a:prstGeom>
          <a:ln/>
        </p:spPr>
      </p:pic>
      <p:sp>
        <p:nvSpPr>
          <p:cNvPr id="304" name=""/>
          <p:cNvSpPr/>
          <p:nvPr/>
        </p:nvSpPr>
        <p:spPr>
          <a:xfrm rot="0" flipH="0" flipV="0">
            <a:off x="3219450" y="4514850"/>
            <a:ext cx="857250" cy="238125"/>
          </a:xfrm>
          <a:prstGeom prst="roundRect">
            <a:avLst>
              <a:gd name="adj" fmla="val 16000"/>
            </a:avLst>
          </a:prstGeom>
          <a:solidFill>
            <a:srgbClr val="2E7FE0">
              <a:alpha val="16000"/>
            </a:srgbClr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3314700" y="45529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EC4EE"/>
                </a:solidFill>
                <a:latin typeface="Microsoft YaHei"/>
                <a:ea typeface="Microsoft YaHei"/>
              </a:rPr>
              <a:t>试凑到合格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76300" y="4848225"/>
            <a:ext cx="6553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检测阈值与标定参数散落在设备侧，换型靠老师傅试凑，耗时不可控也无法复制。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962900" y="121920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48C9B0"/>
                </a:solidFill>
                <a:latin typeface="Microsoft YaHei"/>
                <a:ea typeface="Microsoft YaHei"/>
              </a:rPr>
              <a:t>WHY IT MATTERS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962900" y="1581150"/>
            <a:ext cx="354330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6"/>
                </a:solidFill>
                <a:latin typeface="Microsoft YaHei"/>
                <a:ea typeface="Microsoft YaHei"/>
              </a:rPr>
              <a:t>三个断点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6"/>
                </a:solidFill>
                <a:latin typeface="Microsoft YaHei"/>
                <a:ea typeface="Microsoft YaHei"/>
              </a:rPr>
              <a:t>一个共同后果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7962900" y="2638425"/>
            <a:ext cx="457200" cy="28575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7962900" y="2857500"/>
            <a:ext cx="3543300" cy="14859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错判不可回退——打码之后才发现；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错配不可追溯——配对依据本身不可靠；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换型不可复制——经验留在人身上。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三者叠加，质量数据就无法作为证据使用。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7991475" y="5257800"/>
            <a:ext cx="3543300" cy="952500"/>
          </a:xfrm>
          <a:prstGeom prst="roundRect">
            <a:avLst>
              <a:gd name="adj" fmla="val 10000"/>
            </a:avLst>
          </a:prstGeom>
          <a:solidFill>
            <a:srgbClr val="2E7FE0">
              <a:alpha val="12000"/>
            </a:srgbClr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7991475" y="5257800"/>
            <a:ext cx="3543300" cy="952500"/>
          </a:xfrm>
          <a:custGeom>
            <a:pathLst>
              <a:path w="372" h="10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93"/>
                </a:lnTo>
                <a:cubicBezTo>
                  <a:pt x="3" y="96"/>
                  <a:pt x="5" y="99"/>
                  <a:pt x="8" y="100"/>
                </a:cubicBezTo>
                <a:cubicBezTo>
                  <a:pt x="3" y="99"/>
                  <a:pt x="0" y="95"/>
                  <a:pt x="0" y="9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2B33D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181975" y="5410200"/>
            <a:ext cx="31337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C6D6E6"/>
                </a:solidFill>
                <a:latin typeface="Microsoft YaHei"/>
                <a:ea typeface="Microsoft YaHei"/>
              </a:rPr>
              <a:t>缺的不是人手，而是一条把取图、判向、标定、通讯串在同一时间轴上的系统。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4A6480"/>
                </a:solidFill>
                <a:latin typeface="Microsoft YaHei"/>
                <a:ea typeface="Microsoft YaHei"/>
              </a:rPr>
              <a:t xml:space="preserve">CAV </a:t>
            </a:r>
            <a:r>
              <a:rPr lang="zh-CN" sz="1050" spc="75">
                <a:solidFill>
                  <a:srgbClr val="4A6480"/>
                </a:solidFill>
                <a:latin typeface="Microsoft YaHei"/>
                <a:ea typeface="Microsoft YaHei"/>
              </a:rPr>
              <a:t>物码绑定视觉系统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1049000" y="6324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6480"/>
                </a:solidFill>
                <a:latin typeface="Microsoft YaHei"/>
                <a:ea typeface="Microsoft YaHei"/>
              </a:rPr>
              <a:t>04 / 16</a:t>
            </a:r>
            <a:endParaRPr/>
          </a:p>
        </p:txBody>
      </p:sp>
      <p:pic>
        <p:nvPicPr>
          <p:cNvPr id="316" name=""/>
          <p:cNvPicPr>
            <a:picLocks noChangeAspect="1"/>
          </p:cNvPicPr>
          <p:nvPr/>
        </p:nvPicPr>
        <p:blipFill>
          <a:blip r:embed="rId3">
            <a:alphaModFix amt="9000"/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287000" y="4953000"/>
            <a:ext cx="1905000" cy="1905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7" name="" descr="&lt;Slide style={{ width: 1280, height: 720, background: '#0B1B2B', position: 'relative', overflow: 'hidden', padding: 0 }}&gt;&#10;    &lt;Box style={{ position: 'absolute', right: 0, top: 0, width: 520, height: 720 }}&gt;&#10;        &lt;svg width='520' height='720' viewBox='0 0 520 720'&gt;&#10;            &lt;path d='M150 0 L520 0 L520 720 L20 720 Z' fill='#12293F' /&gt;&#10;            &lt;path d='M248 0 L286 0 L116 720 L78 720 Z' fill='rgba(46,127,224,0.45)' /&gt;&#10;            &lt;path d='M336 0 L350 0 L180 720 L166 720 Z' fill='rgba(72,201,176,0.35)' /&gt;&#10;            &lt;path d='M406 0 L414 0 L244 720 L236 720 Z' fill='rgba(242,179,61,0.30)' /&gt;&#10;            &lt;circle cx='470' cy='300' r='210' fill='none' stroke='rgba(46,127,224,0.30)' strokeWidth='1.5' /&gt;&#10;            &lt;circle cx='470' cy='300' r='150' fill='none' stroke='rgba(46,127,224,0.22)' strokeWidth='1.5' /&gt;&#10;            &lt;circle cx='470' cy='300' r='92' fill='none' stroke='rgba(72,201,176,0.22)' strokeWidth='1.5' /&gt;&#10;        &lt;/svg&gt;&#10;    &lt;/Box&gt;&#10;    &lt;Box style={{ position: 'absolute', left: 0, top: 0, width: 640, height: 720, background: 'linear-gradient(90deg, rgba(11,27,43,1) 0%, rgba(11,27,43,0.92) 60%, rgba(11,27,43,0) 100%)' }} /&gt;&#10;&#10;    &lt;Box style={{ position: 'relative', zIndex: 1, height: 720, padding: '150px 96px 0' }}&gt;&#10;        &lt;Text style={{ fontSize: 118, fontWeight: 'bold', fontFamily: 'Consolas', lineHeight: 1, color: '#2E7FE0' }}&gt;02&lt;/Text&gt;&#10;        &lt;Text style={{ fontSize: 16, color: '#48C9B0', letterSpacing: 4, fontWeight: 'bold', marginTop: 34 }}&gt;SECTION 02&lt;/Text&gt;&#10;        &lt;Text style={{ fontSize: 66, fontWeight: 'bold', color: '#E8EEF6', lineHeight: 1.1, letterSpacing: 3, marginTop: 16 }}&gt;系统方案与核心能力&lt;/Text&gt;&#10;        &lt;Box style={{ width: 56, height: 4, background: '#F2B33D', marginTop: 30, marginBottom: 28 }} /&gt;&#10;        &lt;Text style={{ fontSize: 22, color: '#8FA9C4', lineHeight: 1.7, width: 620 }}&gt;&#10;            从硬触发到机器人打码，一条可以无人值守跑完的闭环。&#10;        &lt;/Text&gt;&#10;    &lt;/Box&gt;&#10;&#10;    &lt;Box style={{ position: 'absolute', left: 96, bottom: 88, flexDirection: 'row', alignItems: 'center', gap: 10 }}&gt;&#10;        &lt;Box style={{ width: 20, height: 4, borderRadius: 2, background: 'rgba(232,238,246,0.18)' }} /&gt;&#10;        &lt;Box style={{ width: 56, height: 4, borderRadius: 2, background: '#2E7FE0' }} /&gt;&#10;        &lt;Box style={{ width: 20, height: 4, borderRadius: 2, background: 'rgba(232,238,246,0.18)' }} /&gt;&#10;        &lt;Box style={{ width: 20, height: 4, borderRadius: 2, background: 'rgba(232,238,246,0.18)' }} /&gt;&#10;        &lt;Text style={{ fontSize: 14, color: '#4A6480', letterSpacing: 2, marginLeft: 12 }}&gt;2 / 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pic>
        <p:nvPicPr>
          <p:cNvPr id="319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0" y="0"/>
            <a:ext cx="4953000" cy="6858000"/>
          </a:xfrm>
          <a:prstGeom prst="rect">
            <a:avLst/>
          </a:prstGeom>
          <a:ln/>
        </p:spPr>
      </p:pic>
      <p:sp>
        <p:nvSpPr>
          <p:cNvPr id="320" name=""/>
          <p:cNvSpPr/>
          <p:nvPr/>
        </p:nvSpPr>
        <p:spPr>
          <a:xfrm rot="0" flipH="0" flipV="0">
            <a:off x="0" y="0"/>
            <a:ext cx="6096000" cy="6858000"/>
          </a:xfrm>
          <a:prstGeom prst="rect">
            <a:avLst/>
          </a:prstGeom>
          <a:gradFill>
            <a:gsLst>
              <a:gs pos="0">
                <a:srgbClr val="0B1B2B">
                  <a:alpha val="100000"/>
                </a:srgbClr>
              </a:gs>
              <a:gs pos="60000">
                <a:srgbClr val="0B1B2B">
                  <a:alpha val="92000"/>
                </a:srgbClr>
              </a:gs>
              <a:gs pos="100000">
                <a:srgbClr val="0B1B2B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914400" y="5924550"/>
            <a:ext cx="190500" cy="38100"/>
          </a:xfrm>
          <a:prstGeom prst="roundRect">
            <a:avLst>
              <a:gd name="adj" fmla="val 50000"/>
            </a:avLst>
          </a:prstGeom>
          <a:solidFill>
            <a:srgbClr val="E8EEF6">
              <a:alpha val="18000"/>
            </a:srgbClr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1200150" y="59245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1828800" y="5924550"/>
            <a:ext cx="190500" cy="38100"/>
          </a:xfrm>
          <a:prstGeom prst="roundRect">
            <a:avLst>
              <a:gd name="adj" fmla="val 50000"/>
            </a:avLst>
          </a:prstGeom>
          <a:solidFill>
            <a:srgbClr val="E8EEF6">
              <a:alpha val="18000"/>
            </a:srgbClr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2114550" y="5924550"/>
            <a:ext cx="190500" cy="38100"/>
          </a:xfrm>
          <a:prstGeom prst="roundRect">
            <a:avLst>
              <a:gd name="adj" fmla="val 50000"/>
            </a:avLst>
          </a:prstGeom>
          <a:solidFill>
            <a:srgbClr val="E8EEF6">
              <a:alpha val="18000"/>
            </a:srgbClr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2514600" y="585787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4A6480"/>
                </a:solidFill>
                <a:latin typeface="Microsoft YaHei"/>
                <a:ea typeface="Microsoft YaHei"/>
              </a:rPr>
              <a:t>2 / 4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914400" y="1428750"/>
            <a:ext cx="10363200" cy="1352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850" b="1">
                <a:solidFill>
                  <a:srgbClr val="2E7FE0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914400" y="310515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48C9B0"/>
                </a:solidFill>
                <a:latin typeface="Microsoft YaHei"/>
                <a:ea typeface="Microsoft YaHei"/>
              </a:rPr>
              <a:t>SECTION 02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14400" y="3448050"/>
            <a:ext cx="10363200" cy="8382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950" b="1" spc="225">
                <a:solidFill>
                  <a:srgbClr val="E8EEF6"/>
                </a:solidFill>
                <a:latin typeface="Microsoft YaHei"/>
                <a:ea typeface="Microsoft YaHei"/>
              </a:rPr>
              <a:t>系统方案与核心能力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914400" y="4572000"/>
            <a:ext cx="533400" cy="38100"/>
          </a:xfrm>
          <a:prstGeom prst="rect">
            <a:avLst/>
          </a:prstGeom>
          <a:solidFill>
            <a:srgbClr val="F2B33D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914400" y="4876800"/>
            <a:ext cx="59055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8FA9C4"/>
                </a:solidFill>
                <a:latin typeface="Microsoft YaHei"/>
                <a:ea typeface="Microsoft YaHei"/>
              </a:rPr>
              <a:t>从硬触发到机器人打码，一条可以无人值守跑完的闭环。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31" name="" descr="&lt;Slide style={{ width: 1280, height: 720, background: '#0B1B2B', padding: '28px 72px', position: 'relative', overflow: 'hidden' }}&gt;&#10;    &lt;Box style={{ position: 'absolute', right: 0, bottom: 0, opacity: 0.09 }}&gt;&#10;        &lt;svg width='200' height='200' viewBox='0 0 200 200'&gt;&#10;            &lt;circle cx='200' cy='0' r='196' fill='none' stroke='#2E7FE0' strokeWidth='2' /&gt;&#10;            &lt;circle cx='200' cy='0' r='150' fill='none' stroke='#2E7FE0' strokeWidth='1.5' /&gt;&#10;            &lt;circle cx='200' cy='0' r='104' fill='none' stroke='#48C9B0' strokeWidth='1.5' /&gt;&#10;        &lt;/svg&gt;&#10;    &lt;/Box&gt;&#10;&#10;    &lt;Box style={{ height: 100, flexDirection: 'row', alignItems: 'center', gap: 18 }}&gt;&#10;        &lt;Box style={{ width: 4, height: 38, background: '#2E7FE0' }} /&gt;&#10;        &lt;Text style={{ fontSize: 38, fontWeight: 'bold', color: '#E8EEF6', letterSpacing: 1 }}&gt;系统闭环：从硬触发到机器人打码&lt;/Text&gt;&#10;    &lt;/Box&gt;&#10;&#10;    &lt;Box style={{ height: 524, flexDirection: 'row', gap: 36 }}&gt;&#10;&#10;        &lt;Box style={{ flex: 1, justifyContent: 'space-between' }}&gt;&#10;            &lt;Box style={{ gap: 13 }}&gt;&#10;                &lt;Box style={{ flexDirection: 'row', gap: 16, alignItems: 'center' }}&gt;&#10;                    &lt;Box style={{ width: 34, height: 34, borderRadius: 17, border: '1px solid rgba(46,127,224,0.75)', background: 'rgba(46,127,224,0.18)', justifyContent: 'center', alignItems: 'center' }}&gt;&#10;                        &lt;Text style={{ fontSize: 14, fontFamily: 'Consolas', fontWeight: 'bold', color: '#9EC4EE' }}&gt;01&lt;/Text&gt;&#10;                    &lt;/Box&gt;&#10;                    &lt;Box style={{ flex: 1 }}&gt;&#10;                        &lt;Text style={{ fontSize: 19, fontWeight: 'bold', color: '#E8EEF6' }}&gt;PLC 硬触发&lt;/Text&gt;&#10;                        &lt;Text style={{ fontSize: 15, color: '#8FA9C4', marginTop: 3 }}&gt;每 200 mm 一次硬触发，并同步上报当前编码器值&lt;/Text&gt;&#10;                    &lt;/Box&gt;&#10;                &lt;/Box&gt;&#10;&#10;                &lt;Box style={{ flexDirection: 'row', gap: 16, alignItems: 'center' }}&gt;&#10;                    &lt;Box style={{ width: 34, height: 34, borderRadius: 17, border: '1px solid rgba(46,127,224,0.75)', background: 'rgba(46,127,224,0.18)', justifyContent: 'center', alignItems: 'center' }}&gt;&#10;                        &lt;Text style={{ fontSize: 14, fontFamily: 'Consolas', fontWeight: 'bold', color: '#9EC4EE' }}&gt;02&lt;/Text&gt;&#10;                    &lt;/Box&gt;&#10;                    &lt;Box style={{ flex: 1 }}&gt;&#10;                        &lt;Text style={{ fontSize: 19, fontWeight: 'bold', color: '#E8EEF6' }}&gt;相机取图&lt;/Text&gt;&#10;                        &lt;Text style={{ fontSize: 15, color: '#8FA9C4', marginTop: 3 }}&gt;硬触发取帧，失败自动重试，丢帧单独计数并呈现&lt;/Text&gt;&#10;                    &lt;/Box&gt;&#10;                &lt;/Box&gt;&#10;&#10;                &lt;Box style={{ flexDirection: 'row', gap: 16, alignItems: 'center' }}&gt;&#10;                    &lt;Box style={{ width: 34, height: 34, borderRadius: 17, border: '1px solid rgba(46,127,224,0.75)', background: 'rgba(46,127,224,0.18)', justifyContent: 'center', alignItems: 'center' }}&gt;&#10;                        &lt;Text style={{ fontSize: 14, fontFamily: 'Consolas', fontWeight: 'bold', color: '#9EC4EE' }}&gt;03&lt;/Text&gt;&#10;                    &lt;/Box&gt;&#10;                    &lt;Box style={{ flex: 1 }}&gt;&#10;                        &lt;Text style={{ fontSize: 19, fontWeight: 'bold', color: '#E8EEF6' }}&gt;读码&lt;/Text&gt;&#10;                        &lt;Text style={{ fontSize: 15, color: '#8FA9C4', marginTop: 3 }}&gt;扫码枪同步给出条码结果，与图像绑定在同一帧上&lt;/Text&gt;&#10;                    &lt;/Box&gt;&#10;                &lt;/Box&gt;&#10;&#10;                &lt;Box style={{ flexDirection: 'row', gap: 16, alignItems: 'center' }}&gt;&#10;                    &lt;Box style={{ width: 34, height: 34, borderRadius: 17, border: '1px solid rgba(46,127,224,0.75)', background: 'rgba(46,127,224,0.18)', justifyContent: 'center', alignItems: 'center' }}&gt;&#10;                        &lt;Text style={{ fontSize: 14, fontFamily: 'Consolas', fontWeight: 'bold', color: '#9EC4EE' }}&gt;04&lt;/Text&gt;&#10;                    &lt;/Box&gt;&#10;                    &lt;Box style={{ flex: 1 }}&gt;&#10;                        &lt;Text style={{ fontSize: 19, fontWeight: 'bold', color: '#E8EEF6' }}&gt;AI 定位推理&lt;/Text&gt;&#10;                        &lt;Text style={{ fontSize: 15, color: '#8FA9C4', marginTop: 3 }}&gt;ONNX 模型输出目标框与掩码，GPU 加速且可自动回退&lt;/Text&gt;&#10;                    &lt;/Box&gt;&#10;                &lt;/Box&gt;&#10;&#10;                &lt;Box style={{ flexDirection: 'row', gap: 16, alignItems: 'center' }}&gt;&#10;                    &lt;Box style={{ width: 34, height: 34, borderRadius: 17, border: '1px solid rgba(72,201,176,0.75)', background: 'rgba(72,201,176,0.18)', justifyContent: 'center', alignItems: 'center' }}&gt;&#10;                        &lt;Text style={{ fontSize: 14, fontFamily: 'Consolas', fontWeight: 'bold', color: '#7FDDC7' }}&gt;05&lt;/Text&gt;&#10;                    &lt;/Box&gt;&#10;                    &lt;Box style={{ flex: 1 }}&gt;&#10;                        &lt;Text style={{ fontSize: 19, fontWeight: 'bold', color: '#E8EEF6' }}&gt;标定与物码绑定&lt;/Text&gt;&#10;                        &lt;Text style={{ fontSize: 15, color: '#8FA9C4', marginTop: 3 }}&gt;九点标定换算世界坐标，条码与检测结果绑成一条记录&lt;/Text&gt;&#10;                    &lt;/Box&gt;&#10;                &lt;/Box&gt;&#10;&#10;                &lt;Box style={{ flexDirection: 'row', gap: 16, alignItems: 'center' }}&gt;&#10;                    &lt;Box style={{ width: 34, height: 34, borderRadius: 17, border: '1px solid rgba(242,179,61,0.75)', background: 'rgba(242,179,61,0.18)', justifyContent: 'center', alignItems: 'center' }}&gt;&#10;                        &lt;Text style={{ fontSize: 14, fontFamily: 'Consolas', fontWeight: 'bold', color: '#F2B33D' }}&gt;06&lt;/Text&gt;&#10;                    &lt;/Box&gt;&#10;                    &lt;Box style={{ flex: 1 }}&gt;&#10;                        &lt;Text style={{ fontSize: 19, fontWeight: 'bold', color: '#E8EEF6' }}&gt;报文下发打码&lt;/Text&gt;&#10;                        &lt;Text style={{ fontSize: 15, color: '#8FA9C4', marginTop: 3 }}&gt;UDP 直连机器人，坐标、角度、条码连同编码器值一条发出&lt;/Text&gt;&#10;                    &lt;/Box&gt;&#10;                &lt;/Box&gt;&#10;            &lt;/Box&gt;&#10;&#10;            &lt;Box style={{ padding: '12px 18px', borderRadius: 8, background: 'rgba(242,179,61,0.10)', borderLeft: '3px solid #F2B33D' }}&gt;&#10;                &lt;Text style={{ fontSize: 16, color: '#C6D6E6' }}&gt;编码器值随帧绑定：报文里的编码器值与图像严格同帧&lt;/Text&gt;&#10;            &lt;/Box&gt;&#10;        &lt;/Box&gt;&#10;&#10;        &lt;Box style={{ width: 372, justifyContent: 'space-between' }}&gt;&#10;            &lt;Box&gt;&#10;                &lt;Text style={{ fontSize: 16, color: '#48C9B0', letterSpacing: 3, fontWeight: 'bold' }}&gt;WHY IT WORKS&lt;/Text&gt;&#10;                &lt;Text style={{ fontSize: 26, fontWeight: 'bold', color: '#E8EEF6', lineHeight: 1.45, marginTop: 18 }}&gt;&#10;                    精度来自同帧&#10;                    &lt;br /&gt;&#10;                    而不是事后对齐&#10;                &lt;/Text&gt;&#10;                &lt;Box style={{ width: 48, height: 3, background: '#2E7FE0', marginTop: 20, marginBottom: 20 }} /&gt;&#10;                &lt;Text style={{ fontSize: 17, color: '#8FA9C4', lineHeight: 1.9 }}&gt;&#10;                    下发的坐标是&quot;编码器值为 E 时刻&quot;的位置快照。机器人拿报文里的 E 与自己的实时编码器值做差，乘输送线系数，外推产品此刻的真实位置再打码。&#10;                &lt;/Text&gt;&#10;            &lt;/Box&gt;&#10;            &lt;Box style={{ padding: '16px 20px', borderRadius: 10, background: 'rgba(46,127,224,0.12)', borderLeft: '3px solid #2E7FE0' }}&gt;&#10;                &lt;Text style={{ fontSize: 16, color: '#C6D6E6', lineHeight: 1.75 }}&gt;&#10;                    所以&quot;同帧&quot;不是可选的优化项，而是打码精度的前提条件。&#10;                &lt;/Text&gt;&#10;            &lt;/Box&gt;&#10;        &lt;/Box&gt;&#10;&#10;    &lt;/Box&gt;&#10;&#10;    &lt;Box style={{ height: 40, flexDirection: 'row', alignItems: 'center', justifyContent: 'space-between' }}&gt;&#10;        &lt;Text style={{ fontSize: 14, color: '#4A6480', letterSpacing: 1 }}&gt;CAV 物码绑定视觉系统&lt;/Text&gt;&#10;        &lt;Text style={{ fontSize: 14, color: '#4A6480' }}&gt;06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685800" y="561975"/>
            <a:ext cx="38100" cy="361950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95350" y="523875"/>
            <a:ext cx="55721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75">
                <a:solidFill>
                  <a:srgbClr val="E8EEF6"/>
                </a:solidFill>
                <a:latin typeface="Microsoft YaHei"/>
                <a:ea typeface="Microsoft YaHei"/>
              </a:rPr>
              <a:t>系统闭环：从硬触发到机器人打码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85800" y="12668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E7FE0">
              <a:alpha val="18000"/>
            </a:srgbClr>
          </a:solidFill>
          <a:ln w="12700">
            <a:solidFill>
              <a:srgbClr val="2E7FE0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771525" y="135255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9EC4EE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162050" y="1219200"/>
            <a:ext cx="6457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8EEF6"/>
                </a:solidFill>
                <a:latin typeface="Microsoft YaHei"/>
                <a:ea typeface="Microsoft YaHei"/>
              </a:rPr>
              <a:t xml:space="preserve">PLC </a:t>
            </a:r>
            <a:r>
              <a:rPr lang="zh-CN" sz="1425" b="1">
                <a:solidFill>
                  <a:srgbClr val="E8EEF6"/>
                </a:solidFill>
                <a:latin typeface="Microsoft YaHei"/>
                <a:ea typeface="Microsoft YaHei"/>
              </a:rPr>
              <a:t>硬触发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162050" y="1466850"/>
            <a:ext cx="645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每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 200 mm 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一次硬触发，并同步上报当前编码器值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685800" y="18097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E7FE0">
              <a:alpha val="18000"/>
            </a:srgbClr>
          </a:solidFill>
          <a:ln w="12700">
            <a:solidFill>
              <a:srgbClr val="2E7FE0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71525" y="18954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9EC4EE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162050" y="1762125"/>
            <a:ext cx="6457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6"/>
                </a:solidFill>
                <a:latin typeface="Microsoft YaHei"/>
                <a:ea typeface="Microsoft YaHei"/>
              </a:rPr>
              <a:t>相机取图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162050" y="2009775"/>
            <a:ext cx="645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硬触发取帧，失败自动重试，丢帧单独计数并呈现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685800" y="23526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E7FE0">
              <a:alpha val="18000"/>
            </a:srgbClr>
          </a:solidFill>
          <a:ln w="12700">
            <a:solidFill>
              <a:srgbClr val="2E7FE0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71525" y="243840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9EC4EE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162050" y="2305050"/>
            <a:ext cx="6457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6"/>
                </a:solidFill>
                <a:latin typeface="Microsoft YaHei"/>
                <a:ea typeface="Microsoft YaHei"/>
              </a:rPr>
              <a:t>读码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162050" y="2552700"/>
            <a:ext cx="645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扫码枪同步给出条码结果，与图像绑定在同一帧上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85800" y="28956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E7FE0">
              <a:alpha val="18000"/>
            </a:srgbClr>
          </a:solidFill>
          <a:ln w="12700">
            <a:solidFill>
              <a:srgbClr val="2E7FE0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71525" y="298132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9EC4EE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62050" y="2847975"/>
            <a:ext cx="6457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8EEF6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E8EEF6"/>
                </a:solidFill>
                <a:latin typeface="Microsoft YaHei"/>
                <a:ea typeface="Microsoft YaHei"/>
              </a:rPr>
              <a:t>定位推理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162050" y="3095625"/>
            <a:ext cx="645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ONNX 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模型输出目标框与掩码，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GPU 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加速且可自动回退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85800" y="34385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48C9B0">
              <a:alpha val="18000"/>
            </a:srgbClr>
          </a:solidFill>
          <a:ln w="12700">
            <a:solidFill>
              <a:srgbClr val="48C9B0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771525" y="352425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7FDDC7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162050" y="3390900"/>
            <a:ext cx="6457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6"/>
                </a:solidFill>
                <a:latin typeface="Microsoft YaHei"/>
                <a:ea typeface="Microsoft YaHei"/>
              </a:rPr>
              <a:t>标定与物码绑定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62050" y="3638550"/>
            <a:ext cx="645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九点标定换算世界坐标，条码与检测结果绑成一条记录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85800" y="39814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2B33D">
              <a:alpha val="18000"/>
            </a:srgbClr>
          </a:solidFill>
          <a:ln w="12700">
            <a:solidFill>
              <a:srgbClr val="F2B33D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771525" y="40671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2B33D"/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162050" y="3933825"/>
            <a:ext cx="6457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6"/>
                </a:solidFill>
                <a:latin typeface="Microsoft YaHei"/>
                <a:ea typeface="Microsoft YaHei"/>
              </a:rPr>
              <a:t>报文下发打码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162050" y="4181475"/>
            <a:ext cx="645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UDP 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直连机器人，坐标、角度、条码连同编码器值一条发出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714375" y="5791200"/>
            <a:ext cx="6934200" cy="419100"/>
          </a:xfrm>
          <a:prstGeom prst="roundRect">
            <a:avLst>
              <a:gd name="adj" fmla="val 18182"/>
            </a:avLst>
          </a:prstGeom>
          <a:solidFill>
            <a:srgbClr val="F2B33D">
              <a:alpha val="10000"/>
            </a:srgbClr>
          </a:solidFill>
          <a:ln/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714375" y="5791200"/>
            <a:ext cx="6934200" cy="419100"/>
          </a:xfrm>
          <a:custGeom>
            <a:pathLst>
              <a:path w="728" h="4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9"/>
                </a:lnTo>
                <a:cubicBezTo>
                  <a:pt x="3" y="41"/>
                  <a:pt x="5" y="43"/>
                  <a:pt x="7" y="44"/>
                </a:cubicBezTo>
                <a:cubicBezTo>
                  <a:pt x="3" y="43"/>
                  <a:pt x="0" y="40"/>
                  <a:pt x="0" y="3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B33D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885825" y="5905500"/>
            <a:ext cx="6562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6D6E6"/>
                </a:solidFill>
                <a:latin typeface="Microsoft YaHei"/>
                <a:ea typeface="Microsoft YaHei"/>
              </a:rPr>
              <a:t>编码器值随帧绑定：报文里的编码器值与图像严格同帧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7962900" y="121920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48C9B0"/>
                </a:solidFill>
                <a:latin typeface="Microsoft YaHei"/>
                <a:ea typeface="Microsoft YaHei"/>
              </a:rPr>
              <a:t>WHY IT WORKS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962900" y="1581150"/>
            <a:ext cx="354330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6"/>
                </a:solidFill>
                <a:latin typeface="Microsoft YaHei"/>
                <a:ea typeface="Microsoft YaHei"/>
              </a:rPr>
              <a:t>精度来自同帧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6"/>
                </a:solidFill>
                <a:latin typeface="Microsoft YaHei"/>
                <a:ea typeface="Microsoft YaHei"/>
              </a:rPr>
              <a:t>而不是事后对齐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7962900" y="2638425"/>
            <a:ext cx="457200" cy="28575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7962900" y="2857500"/>
            <a:ext cx="3543300" cy="1485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下发的坐标是</a:t>
            </a:r>
            <a:r>
              <a:rPr lang="en-US" sz="1275">
                <a:solidFill>
                  <a:srgbClr val="8FA9C4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编码器值为</a:t>
            </a:r>
            <a:r>
              <a:rPr lang="en-US" sz="1275">
                <a:solidFill>
                  <a:srgbClr val="8FA9C4"/>
                </a:solidFill>
                <a:latin typeface="Microsoft YaHei"/>
                <a:ea typeface="Microsoft YaHei"/>
              </a:rPr>
              <a:t xml:space="preserve"> E </a:t>
            </a: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时刻</a:t>
            </a:r>
            <a:r>
              <a:rPr lang="en-US" sz="1275">
                <a:solidFill>
                  <a:srgbClr val="8FA9C4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的位置快照。机器人拿报文里的</a:t>
            </a:r>
            <a:r>
              <a:rPr lang="en-US" sz="1275">
                <a:solidFill>
                  <a:srgbClr val="8FA9C4"/>
                </a:solidFill>
                <a:latin typeface="Microsoft YaHei"/>
                <a:ea typeface="Microsoft YaHei"/>
              </a:rPr>
              <a:t xml:space="preserve"> E </a:t>
            </a: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与自己的实时编码器值做差，乘输送线系数，外推产品此刻的真实位置再打码。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7991475" y="5257800"/>
            <a:ext cx="3543300" cy="952500"/>
          </a:xfrm>
          <a:prstGeom prst="roundRect">
            <a:avLst>
              <a:gd name="adj" fmla="val 10000"/>
            </a:avLst>
          </a:prstGeom>
          <a:solidFill>
            <a:srgbClr val="2E7FE0">
              <a:alpha val="12000"/>
            </a:srgbClr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7991475" y="5257800"/>
            <a:ext cx="3543300" cy="952500"/>
          </a:xfrm>
          <a:custGeom>
            <a:pathLst>
              <a:path w="372" h="10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93"/>
                </a:lnTo>
                <a:cubicBezTo>
                  <a:pt x="3" y="96"/>
                  <a:pt x="5" y="99"/>
                  <a:pt x="8" y="100"/>
                </a:cubicBezTo>
                <a:cubicBezTo>
                  <a:pt x="3" y="99"/>
                  <a:pt x="0" y="95"/>
                  <a:pt x="0" y="9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E7FE0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181975" y="5410200"/>
            <a:ext cx="31337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C6D6E6"/>
                </a:solidFill>
                <a:latin typeface="Microsoft YaHei"/>
                <a:ea typeface="Microsoft YaHei"/>
              </a:rPr>
              <a:t>所以</a:t>
            </a:r>
            <a:r>
              <a:rPr lang="en-US" sz="1200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6D6E6"/>
                </a:solidFill>
                <a:latin typeface="Microsoft YaHei"/>
                <a:ea typeface="Microsoft YaHei"/>
              </a:rPr>
              <a:t>同帧</a:t>
            </a:r>
            <a:r>
              <a:rPr lang="en-US" sz="1200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6D6E6"/>
                </a:solidFill>
                <a:latin typeface="Microsoft YaHei"/>
                <a:ea typeface="Microsoft YaHei"/>
              </a:rPr>
              <a:t>不是可选的优化项，而是打码精度的前提条件。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4A6480"/>
                </a:solidFill>
                <a:latin typeface="Microsoft YaHei"/>
                <a:ea typeface="Microsoft YaHei"/>
              </a:rPr>
              <a:t xml:space="preserve">CAV </a:t>
            </a:r>
            <a:r>
              <a:rPr lang="zh-CN" sz="1050" spc="75">
                <a:solidFill>
                  <a:srgbClr val="4A6480"/>
                </a:solidFill>
                <a:latin typeface="Microsoft YaHei"/>
                <a:ea typeface="Microsoft YaHei"/>
              </a:rPr>
              <a:t>物码绑定视觉系统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1049000" y="6324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6480"/>
                </a:solidFill>
                <a:latin typeface="Microsoft YaHei"/>
                <a:ea typeface="Microsoft YaHei"/>
              </a:rPr>
              <a:t>06 / 16</a:t>
            </a:r>
            <a:endParaRPr/>
          </a:p>
        </p:txBody>
      </p:sp>
      <p:pic>
        <p:nvPicPr>
          <p:cNvPr id="371" name=""/>
          <p:cNvPicPr>
            <a:picLocks noChangeAspect="1"/>
          </p:cNvPicPr>
          <p:nvPr/>
        </p:nvPicPr>
        <p:blipFill>
          <a:blip r:embed="rId1">
            <a:alphaModFix amt="9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287000" y="4953000"/>
            <a:ext cx="1905000" cy="1905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72" name="" descr="&lt;Slide style={{ width: 1280, height: 720, background: '#0B1B2B', padding: '28px 72px', position: 'relative', overflow: 'hidden' }}&gt;&#10;    &lt;Box style={{ position: 'absolute', right: 0, bottom: 0, opacity: 0.09 }}&gt;&#10;        &lt;svg width='200' height='200' viewBox='0 0 200 200'&gt;&#10;            &lt;circle cx='200' cy='0' r='196' fill='none' stroke='#2E7FE0' strokeWidth='2' /&gt;&#10;            &lt;circle cx='200' cy='0' r='150' fill='none' stroke='#2E7FE0' strokeWidth='1.5' /&gt;&#10;            &lt;circle cx='200' cy='0' r='104' fill='none' stroke='#48C9B0' strokeWidth='1.5' /&gt;&#10;        &lt;/svg&gt;&#10;    &lt;/Box&gt;&#10;&#10;    &lt;Box style={{ height: 100, flexDirection: 'row', alignItems: 'center', gap: 18 }}&gt;&#10;        &lt;Box style={{ width: 4, height: 38, background: '#2E7FE0' }} /&gt;&#10;        &lt;Box style={{ flex: 1 }}&gt;&#10;            &lt;Text style={{ fontSize: 38, fontWeight: 'bold', color: '#E8EEF6', letterSpacing: 1 }}&gt;四件事，全部由系统自己完成&lt;/Text&gt;&#10;            &lt;Text style={{ fontSize: 17, color: '#8FA9C4', marginTop: 8 }}&gt;从产品进入视野到机器人落笔，中间不需要人做判断&lt;/Text&gt;&#10;        &lt;/Box&gt;&#10;    &lt;/Box&gt;&#10;&#10;    &lt;Box style={{ height: 524, flexDirection: 'row', gap: 20, alignItems: 'stretch' }}&gt;&#10;&#10;        &lt;Box style={{ flex: 1, padding: 22, background: 'rgba(18,41,63,0.88)', borderRadius: 12, border: '1px solid rgba(232,238,246,0.10)' }}&gt;&#10;            &lt;Box style={{ width: 48, height: 48, borderRadius: 12, background: 'rgba(46,127,224,0.20)', justifyContent: 'center', alignItems: 'center' }}&gt;&#10;                &lt;FAIcon name='camera' style={{ fill: '#7FB4EE', width: 24, height: 24 }} /&gt;&#10;            &lt;/Box&gt;&#10;            &lt;Text style={{ fontSize: 22, fontWeight: 'bold', color: '#E8EEF6', marginTop: 20 }}&gt;智能取图&lt;/Text&gt;&#10;            &lt;Text style={{ fontSize: 15, color: '#8FA9C4', lineHeight: 1.68, marginTop: 12 }}&gt;&#10;                取图有两条路径：扫码枪驱动采集，或相机硬触发取帧。每次取图失败都会自动重试，重试仍失败则记为丢帧并单独计数；主页状态条实时显示丢帧率、编码器绑定延迟与相机连接状态。换句话说，取图环节是否健康不需要翻日志来判断，异常会在画面上被立刻察觉，而不是等到追溯时才发现数据缺了一段、却又说不清缺在哪里。&#10;            &lt;/Text&gt;&#10;            &lt;Box style={{ marginTop: 'auto', paddingTop: 11, borderTop: '1px solid rgba(232,238,246,0.10)', flexDirection: 'row', alignItems: 'center', gap: 8 }}&gt;&#10;                &lt;FAIcon name='check-circle' style={{ fill: '#48C9B0', width: 14, height: 14 }} /&gt;&#10;                &lt;Text style={{ fontSize: 14, color: '#7FDDC7' }}&gt;自动重试 · 丢帧计数&lt;/Text&gt;&#10;            &lt;/Box&gt;&#10;        &lt;/Box&gt;&#10;&#10;        &lt;Box style={{ flex: 1, padding: 22, background: 'rgba(18,41,63,0.88)', borderRadius: 12, border: '1px solid rgba(232,238,246,0.10)' }}&gt;&#10;            &lt;Box style={{ width: 48, height: 48, borderRadius: 12, background: 'rgba(46,127,224,0.20)', justifyContent: 'center', alignItems: 'center' }}&gt;&#10;                &lt;FAIcon name='eye' style={{ fill: '#7FB4EE', width: 24, height: 24 }} /&gt;&#10;            &lt;/Box&gt;&#10;            &lt;Text style={{ fontSize: 22, fontWeight: 'bold', color: '#E8EEF6', marginTop: 20 }}&gt;AI 定位&lt;/Text&gt;&#10;            &lt;Text style={{ fontSize: 15, color: '#8FA9C4', lineHeight: 1.68, marginTop: 12 }}&gt;&#10;                检测基于 ONNX 目标检测模型，输出目标框与实例掩码，供后续的方向判定与位置计算使用。推理默认走 GPU 加速；当显卡或运行时缺失时，按 CUDA、OpenVINO GPU、OpenVINO CPU、纯 CPU 四级逐级自动回退，保证任何一台机器上都能出结果，不会因为环境差异直接罢工。模型文件随安装包一起分发，路径固定，加载失败会明确提示，不需要现场排查依赖。&#10;            &lt;/Text&gt;&#10;            &lt;Box style={{ marginTop: 'auto', paddingTop: 11, borderTop: '1px solid rgba(232,238,246,0.10)', flexDirection: 'row', alignItems: 'center', gap: 8 }}&gt;&#10;                &lt;FAIcon name='check-circle' style={{ fill: '#48C9B0', width: 14, height: 14 }} /&gt;&#10;                &lt;Text style={{ fontSize: 14, color: '#7FDDC7' }}&gt;四级自动回退 · 保证出结果&lt;/Text&gt;&#10;            &lt;/Box&gt;&#10;        &lt;/Box&gt;&#10;&#10;        &lt;Box style={{ flex: 1, padding: 22, background: 'rgba(18,41,63,0.88)', borderRadius: 12, border: '1px solid rgba(232,238,246,0.10)' }}&gt;&#10;            &lt;Box style={{ width: 48, height: 48, borderRadius: 12, background: 'rgba(72,201,176,0.20)', justifyContent: 'center', alignItems: 'center' }}&gt;&#10;                &lt;FAIcon name='crosshairs' style={{ fill: '#7FDDC7', width: 24, height: 24 }} /&gt;&#10;            &lt;/Box&gt;&#10;            &lt;Text style={{ fontSize: 22, fontWeight: 'bold', color: '#E8EEF6', marginTop: 20 }}&gt;坐标标定&lt;/Text&gt;&#10;            &lt;Text style={{ fontSize: 15, color: '#8FA9C4', lineHeight: 1.68, marginTop: 12 }}&gt;&#10;                九点标定用棋盘或圆点靶标确定原点与 X、Y 方向，建立像素到毫米的换算关系，检测结果因此带的是真实空间坐标而不是图像坐标。标定的原点、方向点与靶标参数全部按配方保存，切换产品时随配方一次性生效，不需要重新标一次。机器人拿到的 X、Y 就是这个换算后的世界坐标，与产线坐标系对齐，落库记录里同样保存，便于事后还原每一件产品当时的位置。&#10;            &lt;/Text&gt;&#10;            &lt;Box style={{ marginTop: 'auto', paddingTop: 11, borderTop: '1px solid rgba(232,238,246,0.10)', flexDirection: 'row', alignItems: 'center', gap: 8 }}&gt;&#10;                &lt;FAIcon name='check-circle' style={{ fill: '#48C9B0', width: 14, height: 14 }} /&gt;&#10;                &lt;Text style={{ fontSize: 14, color: '#7FDDC7' }}&gt;像素换算毫米 · 随配方保存&lt;/Text&gt;&#10;            &lt;/Box&gt;&#10;        &lt;/Box&gt;&#10;&#10;        &lt;Box style={{ flex: 1, padding: 22, background: 'rgba(18,41,63,0.88)', borderRadius: 12, border: '1px solid rgba(232,238,246,0.10)' }}&gt;&#10;            &lt;Box style={{ width: 48, height: 48, borderRadius: 12, background: 'rgba(242,179,61,0.20)', justifyContent: 'center', alignItems: 'center' }}&gt;&#10;                &lt;FAIcon name='paper-plane' style={{ fill: '#F2B33D', width: 22, height: 22 }} /&gt;&#10;            &lt;/Box&gt;&#10;            &lt;Text style={{ fontSize: 22, fontWeight: 'bold', color: '#E8EEF6', marginTop: 20 }}&gt;通讯下发&lt;/Text&gt;&#10;            &lt;Text style={{ fontSize: 15, color: '#8FA9C4', lineHeight: 1.68, marginTop: 12 }}&gt;&#10;                按接收方配置分链路用 UDP 直连发送，一条报文包含坐标、旋转角、条码与当帧编码器值。协议内置保护逻辑：角度为未知哨兵值的产品整条不发送，避免机器人按错误角度旋转；相机丢帧或处理过载时发空报文，明确告知这一帧没有产品，而不是让下游去猜。每次发送同时写入审计记录，便于事后核对到底是哪一帧、哪一条报文出了问题。&#10;            &lt;/Text&gt;&#10;            &lt;Box style={{ marginTop: 'auto', paddingTop: 11, borderTop: '1px solid rgba(232,238,246,0.10)', flexDirection: 'row', alignItems: 'center', gap: 8 }}&gt;&#10;                &lt;FAIcon name='check-circle' style={{ fill: '#48C9B0', width: 14, height: 14 }} /&gt;&#10;                &lt;Text style={{ fontSize: 14, color: '#7FDDC7' }}&gt;UDP 直连 · 发送保护逻辑&lt;/Text&gt;&#10;            &lt;/Box&gt;&#10;        &lt;/Box&gt;&#10;&#10;    &lt;/Box&gt;&#10;&#10;    &lt;Box style={{ height: 40, flexDirection: 'row', alignItems: 'center', justifyContent: 'space-between' }}&gt;&#10;        &lt;Text style={{ fontSize: 14, color: '#4A6480', letterSpacing: 1 }}&gt;CAV 物码绑定视觉系统&lt;/Text&gt;&#10;        &lt;Text style={{ fontSize: 14, color: '#4A6480' }}&gt;07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685800" y="561975"/>
            <a:ext cx="38100" cy="361950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95350" y="390525"/>
            <a:ext cx="106108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75">
                <a:solidFill>
                  <a:srgbClr val="E8EEF6"/>
                </a:solidFill>
                <a:latin typeface="Microsoft YaHei"/>
                <a:ea typeface="Microsoft YaHei"/>
              </a:rPr>
              <a:t>四件事，全部由系统自己完成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95350" y="904875"/>
            <a:ext cx="10610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从产品进入视野到机器人落笔，中间不需要人做判断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685800" y="1219200"/>
            <a:ext cx="2562225" cy="4991100"/>
          </a:xfrm>
          <a:prstGeom prst="roundRect">
            <a:avLst>
              <a:gd name="adj" fmla="val 4461"/>
            </a:avLst>
          </a:prstGeom>
          <a:solidFill>
            <a:srgbClr val="12293F">
              <a:alpha val="88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895350" y="14287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E7FE0">
              <a:alpha val="20000"/>
            </a:srgbClr>
          </a:solidFill>
          <a:ln/>
        </p:spPr>
        <p:txBody>
          <a:bodyPr/>
          <a:p/>
        </p:txBody>
      </p:sp>
      <p:pic>
        <p:nvPicPr>
          <p:cNvPr id="379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09650" y="1543050"/>
            <a:ext cx="228600" cy="228600"/>
          </a:xfrm>
          <a:prstGeom prst="rect">
            <a:avLst/>
          </a:prstGeom>
          <a:ln/>
        </p:spPr>
      </p:pic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95350" y="207645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6"/>
                </a:solidFill>
                <a:latin typeface="Microsoft YaHei"/>
                <a:ea typeface="Microsoft YaHei"/>
              </a:rPr>
              <a:t>智能取图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95350" y="2447925"/>
            <a:ext cx="2143125" cy="2886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取图有两条路径：扫码枪驱动采集，或相机硬触发取帧。每次取图失败都会自动重试，重试仍失败则记为丢帧并单独计数；主页状态条实时显示丢帧率、编码器绑定延迟与相机连接状态。换句话说，取图环节是否健康不需要翻日志来判断，异常会在画面上被立刻察觉，而不是等到追溯时才发现数据缺了一段、却又说不清缺在哪里。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895350" y="5724525"/>
            <a:ext cx="2143125" cy="285750"/>
          </a:xfrm>
          <a:custGeom>
            <a:pathLst>
              <a:path w="225" h="30">
                <a:moveTo>
                  <a:pt x="0" y="0"/>
                </a:moveTo>
                <a:lnTo>
                  <a:pt x="225" y="0"/>
                </a:lnTo>
                <a:lnTo>
                  <a:pt x="22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6">
              <a:alpha val="10000"/>
            </a:srgbClr>
          </a:solidFill>
          <a:ln/>
        </p:spPr>
        <p:txBody>
          <a:bodyPr/>
          <a:p/>
        </p:txBody>
      </p:sp>
      <p:pic>
        <p:nvPicPr>
          <p:cNvPr id="383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95350" y="5857875"/>
            <a:ext cx="133350" cy="133350"/>
          </a:xfrm>
          <a:prstGeom prst="rect">
            <a:avLst/>
          </a:prstGeom>
          <a:ln/>
        </p:spPr>
      </p:pic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104900" y="5838825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FDDC7"/>
                </a:solidFill>
                <a:latin typeface="Microsoft YaHei"/>
                <a:ea typeface="Microsoft YaHei"/>
              </a:rPr>
              <a:t>自动重试</a:t>
            </a:r>
            <a:r>
              <a:rPr lang="en-US" sz="1050">
                <a:solidFill>
                  <a:srgbClr val="7FDDC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FDDC7"/>
                </a:solidFill>
                <a:latin typeface="Microsoft YaHei"/>
                <a:ea typeface="Microsoft YaHei"/>
              </a:rPr>
              <a:t>丢帧计数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3438525" y="1219200"/>
            <a:ext cx="2562225" cy="4991100"/>
          </a:xfrm>
          <a:prstGeom prst="roundRect">
            <a:avLst>
              <a:gd name="adj" fmla="val 4461"/>
            </a:avLst>
          </a:prstGeom>
          <a:solidFill>
            <a:srgbClr val="12293F">
              <a:alpha val="88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3648075" y="14287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E7FE0">
              <a:alpha val="20000"/>
            </a:srgbClr>
          </a:solidFill>
          <a:ln/>
        </p:spPr>
        <p:txBody>
          <a:bodyPr/>
          <a:p/>
        </p:txBody>
      </p:sp>
      <p:pic>
        <p:nvPicPr>
          <p:cNvPr id="387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762375" y="1543050"/>
            <a:ext cx="228600" cy="228600"/>
          </a:xfrm>
          <a:prstGeom prst="rect">
            <a:avLst/>
          </a:prstGeom>
          <a:ln/>
        </p:spPr>
      </p:pic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3648075" y="207645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8EEF6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650" b="1">
                <a:solidFill>
                  <a:srgbClr val="E8EEF6"/>
                </a:solidFill>
                <a:latin typeface="Microsoft YaHei"/>
                <a:ea typeface="Microsoft YaHei"/>
              </a:rPr>
              <a:t>定位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3648075" y="2447925"/>
            <a:ext cx="2143125" cy="3171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检测基于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 ONNX 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目标检测模型，输出目标框与实例掩码，供后续的方向判定与位置计算使用。推理默认走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 GPU 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加速；当显卡或运行时缺失时，按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 CUDA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>OpenVINO GPU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>OpenVINO CPU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、纯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 CPU 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四级逐级自动回退，保证任何一台机器上都能出结果，不会因为环境差异直接罢工。模型文件随安装包一起分发，路径固定，加载失败会明确提示，不需要现场排查依赖。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3648075" y="5724525"/>
            <a:ext cx="2143125" cy="285750"/>
          </a:xfrm>
          <a:custGeom>
            <a:pathLst>
              <a:path w="225" h="30">
                <a:moveTo>
                  <a:pt x="0" y="0"/>
                </a:moveTo>
                <a:lnTo>
                  <a:pt x="225" y="0"/>
                </a:lnTo>
                <a:lnTo>
                  <a:pt x="22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6">
              <a:alpha val="10000"/>
            </a:srgbClr>
          </a:solidFill>
          <a:ln/>
        </p:spPr>
        <p:txBody>
          <a:bodyPr/>
          <a:p/>
        </p:txBody>
      </p:sp>
      <p:pic>
        <p:nvPicPr>
          <p:cNvPr id="391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48075" y="5857875"/>
            <a:ext cx="133350" cy="133350"/>
          </a:xfrm>
          <a:prstGeom prst="rect">
            <a:avLst/>
          </a:prstGeom>
          <a:ln/>
        </p:spPr>
      </p:pic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3857625" y="5838825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FDDC7"/>
                </a:solidFill>
                <a:latin typeface="Microsoft YaHei"/>
                <a:ea typeface="Microsoft YaHei"/>
              </a:rPr>
              <a:t>四级自动回退</a:t>
            </a:r>
            <a:r>
              <a:rPr lang="en-US" sz="1050">
                <a:solidFill>
                  <a:srgbClr val="7FDDC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FDDC7"/>
                </a:solidFill>
                <a:latin typeface="Microsoft YaHei"/>
                <a:ea typeface="Microsoft YaHei"/>
              </a:rPr>
              <a:t>保证出结果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6191250" y="1219200"/>
            <a:ext cx="2562225" cy="4991100"/>
          </a:xfrm>
          <a:prstGeom prst="roundRect">
            <a:avLst>
              <a:gd name="adj" fmla="val 4461"/>
            </a:avLst>
          </a:prstGeom>
          <a:solidFill>
            <a:srgbClr val="12293F">
              <a:alpha val="88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4" name=""/>
          <p:cNvSpPr/>
          <p:nvPr/>
        </p:nvSpPr>
        <p:spPr>
          <a:xfrm rot="0" flipH="0" flipV="0">
            <a:off x="6400800" y="14287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48C9B0">
              <a:alpha val="20000"/>
            </a:srgbClr>
          </a:solidFill>
          <a:ln/>
        </p:spPr>
        <p:txBody>
          <a:bodyPr/>
          <a:p/>
        </p:txBody>
      </p:sp>
      <p:pic>
        <p:nvPicPr>
          <p:cNvPr id="395" name="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515100" y="1543050"/>
            <a:ext cx="228600" cy="228600"/>
          </a:xfrm>
          <a:prstGeom prst="rect">
            <a:avLst/>
          </a:prstGeom>
          <a:ln/>
        </p:spPr>
      </p:pic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400800" y="207645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6"/>
                </a:solidFill>
                <a:latin typeface="Microsoft YaHei"/>
                <a:ea typeface="Microsoft YaHei"/>
              </a:rPr>
              <a:t>坐标标定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400800" y="2447925"/>
            <a:ext cx="2143125" cy="3171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九点标定用棋盘或圆点靶标确定原点与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 X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Y 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方向，建立像素到毫米的换算关系，检测结果因此带的是真实空间坐标而不是图像坐标。标定的原点、方向点与靶标参数全部按配方保存，切换产品时随配方一次性生效，不需要重新标一次。机器人拿到的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 X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Y 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就是这个换算后的世界坐标，与产线坐标系对齐，落库记录里同样保存，便于事后还原每一件产品当时的位置。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400800" y="5724525"/>
            <a:ext cx="2143125" cy="285750"/>
          </a:xfrm>
          <a:custGeom>
            <a:pathLst>
              <a:path w="225" h="30">
                <a:moveTo>
                  <a:pt x="0" y="0"/>
                </a:moveTo>
                <a:lnTo>
                  <a:pt x="225" y="0"/>
                </a:lnTo>
                <a:lnTo>
                  <a:pt x="22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6">
              <a:alpha val="10000"/>
            </a:srgbClr>
          </a:solidFill>
          <a:ln/>
        </p:spPr>
        <p:txBody>
          <a:bodyPr/>
          <a:p/>
        </p:txBody>
      </p:sp>
      <p:pic>
        <p:nvPicPr>
          <p:cNvPr id="399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00800" y="5857875"/>
            <a:ext cx="133350" cy="133350"/>
          </a:xfrm>
          <a:prstGeom prst="rect">
            <a:avLst/>
          </a:prstGeom>
          <a:ln/>
        </p:spPr>
      </p:pic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610350" y="5838825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FDDC7"/>
                </a:solidFill>
                <a:latin typeface="Microsoft YaHei"/>
                <a:ea typeface="Microsoft YaHei"/>
              </a:rPr>
              <a:t>像素换算毫米</a:t>
            </a:r>
            <a:r>
              <a:rPr lang="en-US" sz="1050">
                <a:solidFill>
                  <a:srgbClr val="7FDDC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FDDC7"/>
                </a:solidFill>
                <a:latin typeface="Microsoft YaHei"/>
                <a:ea typeface="Microsoft YaHei"/>
              </a:rPr>
              <a:t>随配方保存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8943975" y="1219200"/>
            <a:ext cx="2562225" cy="4991100"/>
          </a:xfrm>
          <a:prstGeom prst="roundRect">
            <a:avLst>
              <a:gd name="adj" fmla="val 4461"/>
            </a:avLst>
          </a:prstGeom>
          <a:solidFill>
            <a:srgbClr val="12293F">
              <a:alpha val="88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2" name=""/>
          <p:cNvSpPr/>
          <p:nvPr/>
        </p:nvSpPr>
        <p:spPr>
          <a:xfrm rot="0" flipH="0" flipV="0">
            <a:off x="9153525" y="14287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2B33D">
              <a:alpha val="20000"/>
            </a:srgbClr>
          </a:solidFill>
          <a:ln/>
        </p:spPr>
        <p:txBody>
          <a:bodyPr/>
          <a:p/>
        </p:txBody>
      </p:sp>
      <p:pic>
        <p:nvPicPr>
          <p:cNvPr id="403" name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277350" y="1552575"/>
            <a:ext cx="209550" cy="209550"/>
          </a:xfrm>
          <a:prstGeom prst="rect">
            <a:avLst/>
          </a:prstGeom>
          <a:ln/>
        </p:spPr>
      </p:pic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9153525" y="207645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6"/>
                </a:solidFill>
                <a:latin typeface="Microsoft YaHei"/>
                <a:ea typeface="Microsoft YaHei"/>
              </a:rPr>
              <a:t>通讯下发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9153525" y="2447925"/>
            <a:ext cx="2143125" cy="3171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按接收方配置分链路用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 UDP 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直连发送，一条报文包含坐标、旋转角、条码与当帧编码器值。协议内置保护逻辑：角度为未知哨兵值的产品整条不发送，避免机器人按错误角度旋转；相机丢帧或处理过载时发空报文，明确告知这一帧没有产品，而不是让下游去猜。每次发送同时写入审计记录，便于事后核对到底是哪一帧、哪一条报文出了问题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9153525" y="5724525"/>
            <a:ext cx="2143125" cy="285750"/>
          </a:xfrm>
          <a:custGeom>
            <a:pathLst>
              <a:path w="225" h="30">
                <a:moveTo>
                  <a:pt x="0" y="0"/>
                </a:moveTo>
                <a:lnTo>
                  <a:pt x="225" y="0"/>
                </a:lnTo>
                <a:lnTo>
                  <a:pt x="22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6">
              <a:alpha val="10000"/>
            </a:srgbClr>
          </a:solidFill>
          <a:ln/>
        </p:spPr>
        <p:txBody>
          <a:bodyPr/>
          <a:p/>
        </p:txBody>
      </p:sp>
      <p:pic>
        <p:nvPicPr>
          <p:cNvPr id="407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53525" y="5857875"/>
            <a:ext cx="133350" cy="133350"/>
          </a:xfrm>
          <a:prstGeom prst="rect">
            <a:avLst/>
          </a:prstGeom>
          <a:ln/>
        </p:spPr>
      </p:pic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9363075" y="5838825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FDDC7"/>
                </a:solidFill>
                <a:latin typeface="Microsoft YaHei"/>
                <a:ea typeface="Microsoft YaHei"/>
              </a:rPr>
              <a:t xml:space="preserve">UDP </a:t>
            </a:r>
            <a:r>
              <a:rPr lang="zh-CN" sz="1050">
                <a:solidFill>
                  <a:srgbClr val="7FDDC7"/>
                </a:solidFill>
                <a:latin typeface="Microsoft YaHei"/>
                <a:ea typeface="Microsoft YaHei"/>
              </a:rPr>
              <a:t>直连</a:t>
            </a:r>
            <a:r>
              <a:rPr lang="en-US" sz="1050">
                <a:solidFill>
                  <a:srgbClr val="7FDDC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FDDC7"/>
                </a:solidFill>
                <a:latin typeface="Microsoft YaHei"/>
                <a:ea typeface="Microsoft YaHei"/>
              </a:rPr>
              <a:t>发送保护逻辑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4A6480"/>
                </a:solidFill>
                <a:latin typeface="Microsoft YaHei"/>
                <a:ea typeface="Microsoft YaHei"/>
              </a:rPr>
              <a:t xml:space="preserve">CAV </a:t>
            </a:r>
            <a:r>
              <a:rPr lang="zh-CN" sz="1050" spc="75">
                <a:solidFill>
                  <a:srgbClr val="4A6480"/>
                </a:solidFill>
                <a:latin typeface="Microsoft YaHei"/>
                <a:ea typeface="Microsoft YaHei"/>
              </a:rPr>
              <a:t>物码绑定视觉系统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1049000" y="6324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6480"/>
                </a:solidFill>
                <a:latin typeface="Microsoft YaHei"/>
                <a:ea typeface="Microsoft YaHei"/>
              </a:rPr>
              <a:t>07 / 16</a:t>
            </a:r>
            <a:endParaRPr/>
          </a:p>
        </p:txBody>
      </p:sp>
      <p:pic>
        <p:nvPicPr>
          <p:cNvPr id="411" name=""/>
          <p:cNvPicPr>
            <a:picLocks noChangeAspect="1"/>
          </p:cNvPicPr>
          <p:nvPr/>
        </p:nvPicPr>
        <p:blipFill>
          <a:blip r:embed="rId6">
            <a:alphaModFix amt="9000"/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10287000" y="4953000"/>
            <a:ext cx="1905000" cy="1905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12" name="" descr="&lt;Slide style={{ width: 1280, height: 720, background: '#0B1B2B', padding: '28px 72px', position: 'relative', overflow: 'hidden' }}&gt;&#10;    &lt;Box style={{ position: 'absolute', right: 0, bottom: 0, opacity: 0.09 }}&gt;&#10;        &lt;svg width='200' height='200' viewBox='0 0 200 200'&gt;&#10;            &lt;circle cx='200' cy='0' r='196' fill='none' stroke='#2E7FE0' strokeWidth='2' /&gt;&#10;            &lt;circle cx='200' cy='0' r='150' fill='none' stroke='#2E7FE0' strokeWidth='1.5' /&gt;&#10;            &lt;circle cx='200' cy='0' r='104' fill='none' stroke='#48C9B0' strokeWidth='1.5' /&gt;&#10;        &lt;/svg&gt;&#10;    &lt;/Box&gt;&#10;&#10;    &lt;Box style={{ height: 100, flexDirection: 'row', alignItems: 'center', gap: 18 }}&gt;&#10;        &lt;Box style={{ width: 4, height: 38, background: '#2E7FE0' }} /&gt;&#10;        &lt;Text style={{ fontSize: 38, fontWeight: 'bold', color: '#E8EEF6', letterSpacing: 1 }}&gt;配方化 AI 检测：换产品不改代码&lt;/Text&gt;&#10;    &lt;/Box&gt;&#10;&#10;    &lt;Box style={{ height: 524, flexDirection: 'row', gap: 36 }}&gt;&#10;&#10;        &lt;Box style={{ width: 380, padding: '30px 26px', background: 'rgba(18,41,63,0.78)', borderRadius: 12, border: '1px solid rgba(232,238,246,0.10)', justifyContent: 'space-between' }}&gt;&#10;            &lt;Box&gt;&#10;                &lt;Text style={{ fontSize: 15, color: '#48C9B0', letterSpacing: 3, fontWeight: 'bold' }}&gt;RECIPE DRIVEN&lt;/Text&gt;&#10;                &lt;Text style={{ fontSize: 28, fontWeight: 'bold', color: '#E8EEF6', lineHeight: 1.45, marginTop: 16 }}&gt;&#10;                    把产品差异&#10;                    &lt;br /&gt;&#10;                    收敛成配方差异&#10;                &lt;/Text&gt;&#10;                &lt;Box style={{ width: 48, height: 3, background: '#2E7FE0', marginTop: 20, marginBottom: 20 }} /&gt;&#10;                &lt;Text style={{ fontSize: 17, color: '#8FA9C4', lineHeight: 1.9 }}&gt;&#10;                    一个配方由五组参数构成，切换时跟踪器清空、预测器异步重载，重载期间跳帧属正常，完成后自动恢复。&#10;                &lt;/Text&gt;&#10;                &lt;Box style={{ marginTop: 18, paddingTop: 16, borderTop: '1px solid rgba(232,238,246,0.10)' }}&gt;&#10;                    &lt;Box style={{ flexDirection: 'row', gap: 10, alignItems: 'flex-start', marginBottom: 9 }}&gt;&#10;                        &lt;Box style={{ width: 4, height: 4, borderRadius: 2, background: '#2E7FE0', marginTop: 9 }} /&gt;&#10;                        &lt;Text style={{ fontSize: 15, color: '#9FB4C9', lineHeight: 1.6 }}&gt;位置补偿即时生效，检测参数重载后生效&lt;/Text&gt;&#10;                    &lt;/Box&gt;&#10;                    &lt;Box style={{ flexDirection: 'row', gap: 10, alignItems: 'flex-start' }}&gt;&#10;                        &lt;Box style={{ width: 4, height: 4, borderRadius: 2, background: '#2E7FE0', marginTop: 9 }} /&gt;&#10;                        &lt;Text style={{ fontSize: 15, color: '#9FB4C9', lineHeight: 1.6 }}&gt;九点标定参数随配方一起切换&lt;/Text&gt;&#10;                    &lt;/Box&gt;&#10;                &lt;/Box&gt;&#10;            &lt;/Box&gt;&#10;            &lt;Box style={{ flexDirection: 'row', alignItems: 'flex-end', gap: 12 }}&gt;&#10;                &lt;Text style={{ fontSize: 52, fontWeight: 'bold', fontFamily: 'Consolas', color: '#F2B33D', lineHeight: 1 }}&gt;5&lt;/Text&gt;&#10;                &lt;Text style={{ fontSize: 15, color: '#8FA9C4', lineHeight: 1.5, marginBottom: 6 }}&gt;组参数，一次切换全部生效&lt;/Text&gt;&#10;            &lt;/Box&gt;&#10;        &lt;/Box&gt;&#10;&#10;        &lt;Box style={{ flex: 1, justifyContent: 'space-between' }}&gt;&#10;            &lt;Box&gt;&#10;                &lt;Image src='assets/recipe-page.png' style={{ width: 720, height: 425, objectFit: 'cover', borderRadius: 10, border: '1px solid rgba(232,238,246,0.14)' }} /&gt;&#10;                &lt;Box style={{ flexDirection: 'row', alignItems: 'center', gap: 10, marginTop: 14 }}&gt;&#10;                    &lt;FAIcon name='info-circle' style={{ fill: '#4A6480', width: 14, height: 14 }} /&gt;&#10;                    &lt;Text style={{ fontSize: 15, color: '#7B94AD' }}&gt;配方管理界面：创建、复制、搜索、保存、设为当前与删除都在同一页完成&lt;/Text&gt;&#10;                &lt;/Box&gt;&#10;            &lt;/Box&gt;&#10;            &lt;Box style={{ padding: '14px 18px', borderRadius: 10, background: 'rgba(242,179,61,0.10)', borderLeft: '3px solid #F2B33D' }}&gt;&#10;                &lt;Text style={{ fontSize: 16, color: '#C6D6E6', lineHeight: 1.7 }}&gt;&#10;                    对现场的意义：换型从&quot;改工程&quot;变成&quot;选一条配方&quot;，不需要停线重做开发。&#10;                &lt;/Text&gt;&#10;            &lt;/Box&gt;&#10;        &lt;/Box&gt;&#10;&#10;    &lt;/Box&gt;&#10;&#10;    &lt;Box style={{ height: 40, flexDirection: 'row', alignItems: 'center', justifyContent: 'space-between' }}&gt;&#10;        &lt;Text style={{ fontSize: 14, color: '#4A6480', letterSpacing: 1 }}&gt;CAV 物码绑定视觉系统&lt;/Text&gt;&#10;        &lt;Text style={{ fontSize: 14, color: '#4A6480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sp>
        <p:nvSpPr>
          <p:cNvPr id="414" name=""/>
          <p:cNvSpPr/>
          <p:nvPr/>
        </p:nvSpPr>
        <p:spPr>
          <a:xfrm rot="0" flipH="0" flipV="0">
            <a:off x="685800" y="561975"/>
            <a:ext cx="38100" cy="361950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95350" y="523875"/>
            <a:ext cx="54768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75">
                <a:solidFill>
                  <a:srgbClr val="E8EEF6"/>
                </a:solidFill>
                <a:latin typeface="Microsoft YaHei"/>
                <a:ea typeface="Microsoft YaHei"/>
              </a:rPr>
              <a:t>配方化</a:t>
            </a:r>
            <a:r>
              <a:rPr lang="en-US" sz="2850" b="1" spc="75">
                <a:solidFill>
                  <a:srgbClr val="E8EEF6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850" b="1" spc="75">
                <a:solidFill>
                  <a:srgbClr val="E8EEF6"/>
                </a:solidFill>
                <a:latin typeface="Microsoft YaHei"/>
                <a:ea typeface="Microsoft YaHei"/>
              </a:rPr>
              <a:t>检测：换产品不改代码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685800" y="1219200"/>
            <a:ext cx="3619500" cy="4991100"/>
          </a:xfrm>
          <a:prstGeom prst="roundRect">
            <a:avLst>
              <a:gd name="adj" fmla="val 3158"/>
            </a:avLst>
          </a:prstGeom>
          <a:solidFill>
            <a:srgbClr val="12293F">
              <a:alpha val="78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933450" y="1504950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48C9B0"/>
                </a:solidFill>
                <a:latin typeface="Microsoft YaHei"/>
                <a:ea typeface="Microsoft YaHei"/>
              </a:rPr>
              <a:t>RECIPE DRIVEN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933450" y="1828800"/>
            <a:ext cx="3124200" cy="9334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6"/>
                </a:solidFill>
                <a:latin typeface="Microsoft YaHei"/>
                <a:ea typeface="Microsoft YaHei"/>
              </a:rPr>
              <a:t>把产品差异</a:t>
            </a:r>
            <a:endParaRPr/>
          </a:p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6"/>
                </a:solidFill>
                <a:latin typeface="Microsoft YaHei"/>
                <a:ea typeface="Microsoft YaHei"/>
              </a:rPr>
              <a:t>收敛成配方差异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933450" y="2952750"/>
            <a:ext cx="457200" cy="28575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933450" y="3171825"/>
            <a:ext cx="312420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一个配方由五组参数构成，切换时跟踪器清空、预测器异步重载，重载期间跳帧属正常，完成后自动恢复。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933450" y="4457700"/>
            <a:ext cx="3124200" cy="809625"/>
          </a:xfrm>
          <a:custGeom>
            <a:pathLst>
              <a:path w="328" h="85">
                <a:moveTo>
                  <a:pt x="0" y="0"/>
                </a:moveTo>
                <a:lnTo>
                  <a:pt x="328" y="0"/>
                </a:lnTo>
                <a:lnTo>
                  <a:pt x="32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6">
              <a:alpha val="10000"/>
            </a:srgbClr>
          </a:soli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933450" y="47053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066800" y="4619625"/>
            <a:ext cx="2571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FB4C9"/>
                </a:solidFill>
                <a:latin typeface="Microsoft YaHei"/>
                <a:ea typeface="Microsoft YaHei"/>
              </a:rPr>
              <a:t>位置补偿即时生效，检测参数重载后生效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933450" y="506730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066800" y="4981575"/>
            <a:ext cx="1857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FB4C9"/>
                </a:solidFill>
                <a:latin typeface="Microsoft YaHei"/>
                <a:ea typeface="Microsoft YaHei"/>
              </a:rPr>
              <a:t>九点标定参数随配方一起切换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933450" y="5324475"/>
            <a:ext cx="2762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F2B33D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323975" y="56102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组参数，一次切换全部生效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4648200" y="1219200"/>
            <a:ext cx="6858000" cy="4048125"/>
          </a:xfrm>
          <a:prstGeom prst="rect">
            <a:avLst/>
          </a:prstGeom>
          <a:ln w="12700">
            <a:solidFill>
              <a:srgbClr val="E8EEF6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29" name=""/>
          <p:cNvPicPr>
            <a:picLocks noChangeAspect="1"/>
          </p:cNvPicPr>
          <p:nvPr/>
        </p:nvPicPr>
        <p:blipFill>
          <a:blip r:embed="rId1"/>
          <a:srcRect l="0" t="4173" r="0" b="4173"/>
          <a:stretch>
            <a:fillRect/>
          </a:stretch>
        </p:blipFill>
        <p:spPr>
          <a:xfrm rot="0" flipH="0" flipV="0">
            <a:off x="4648200" y="1219200"/>
            <a:ext cx="6858000" cy="4048125"/>
          </a:xfrm>
          <a:prstGeom prst="roundRect">
            <a:avLst>
              <a:gd name="adj" fmla="val 2353"/>
            </a:avLst>
          </a:prstGeom>
          <a:ln/>
        </p:spPr>
      </p:pic>
      <p:pic>
        <p:nvPicPr>
          <p:cNvPr id="430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48200" y="5419725"/>
            <a:ext cx="133350" cy="133350"/>
          </a:xfrm>
          <a:prstGeom prst="rect">
            <a:avLst/>
          </a:prstGeom>
          <a:ln/>
        </p:spPr>
      </p:pic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4876800" y="5400675"/>
            <a:ext cx="4714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94AD"/>
                </a:solidFill>
                <a:latin typeface="Microsoft YaHei"/>
                <a:ea typeface="Microsoft YaHei"/>
              </a:rPr>
              <a:t>配方管理界面：创建、复制、搜索、保存、设为当前与删除都在同一页完成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4676775" y="5629275"/>
            <a:ext cx="6858000" cy="581025"/>
          </a:xfrm>
          <a:prstGeom prst="roundRect">
            <a:avLst>
              <a:gd name="adj" fmla="val 16393"/>
            </a:avLst>
          </a:prstGeom>
          <a:solidFill>
            <a:srgbClr val="F2B33D">
              <a:alpha val="10000"/>
            </a:srgbClr>
          </a:solidFill>
          <a:ln/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4676775" y="5629275"/>
            <a:ext cx="6858000" cy="581025"/>
          </a:xfrm>
          <a:custGeom>
            <a:pathLst>
              <a:path w="720" h="61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54"/>
                </a:lnTo>
                <a:cubicBezTo>
                  <a:pt x="3" y="57"/>
                  <a:pt x="5" y="60"/>
                  <a:pt x="8" y="61"/>
                </a:cubicBezTo>
                <a:cubicBezTo>
                  <a:pt x="3" y="60"/>
                  <a:pt x="0" y="56"/>
                  <a:pt x="0" y="5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2B33D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4848225" y="5762625"/>
            <a:ext cx="6486525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C6D6E6"/>
                </a:solidFill>
                <a:latin typeface="Microsoft YaHei"/>
                <a:ea typeface="Microsoft YaHei"/>
              </a:rPr>
              <a:t>对现场的意义：换型从</a:t>
            </a:r>
            <a:r>
              <a:rPr lang="en-US" sz="1200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6D6E6"/>
                </a:solidFill>
                <a:latin typeface="Microsoft YaHei"/>
                <a:ea typeface="Microsoft YaHei"/>
              </a:rPr>
              <a:t>改工程</a:t>
            </a:r>
            <a:r>
              <a:rPr lang="en-US" sz="1200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6D6E6"/>
                </a:solidFill>
                <a:latin typeface="Microsoft YaHei"/>
                <a:ea typeface="Microsoft YaHei"/>
              </a:rPr>
              <a:t>变成</a:t>
            </a:r>
            <a:r>
              <a:rPr lang="en-US" sz="1200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6D6E6"/>
                </a:solidFill>
                <a:latin typeface="Microsoft YaHei"/>
                <a:ea typeface="Microsoft YaHei"/>
              </a:rPr>
              <a:t>选一条配方</a:t>
            </a:r>
            <a:r>
              <a:rPr lang="en-US" sz="1200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C6D6E6"/>
                </a:solidFill>
                <a:latin typeface="Microsoft YaHei"/>
                <a:ea typeface="Microsoft YaHei"/>
              </a:rPr>
              <a:t>，不需要停线重做开发。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4A6480"/>
                </a:solidFill>
                <a:latin typeface="Microsoft YaHei"/>
                <a:ea typeface="Microsoft YaHei"/>
              </a:rPr>
              <a:t xml:space="preserve">CAV </a:t>
            </a:r>
            <a:r>
              <a:rPr lang="zh-CN" sz="1050" spc="75">
                <a:solidFill>
                  <a:srgbClr val="4A6480"/>
                </a:solidFill>
                <a:latin typeface="Microsoft YaHei"/>
                <a:ea typeface="Microsoft YaHei"/>
              </a:rPr>
              <a:t>物码绑定视觉系统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11049000" y="6324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6480"/>
                </a:solidFill>
                <a:latin typeface="Microsoft YaHei"/>
                <a:ea typeface="Microsoft YaHei"/>
              </a:rPr>
              <a:t>08 / 16</a:t>
            </a:r>
            <a:endParaRPr/>
          </a:p>
        </p:txBody>
      </p:sp>
      <p:pic>
        <p:nvPicPr>
          <p:cNvPr id="437" name=""/>
          <p:cNvPicPr>
            <a:picLocks noChangeAspect="1"/>
          </p:cNvPicPr>
          <p:nvPr/>
        </p:nvPicPr>
        <p:blipFill>
          <a:blip r:embed="rId3">
            <a:alphaModFix amt="9000"/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287000" y="4953000"/>
            <a:ext cx="1905000" cy="1905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38" name="" descr="&lt;Slide style={{ width: 1280, height: 720, background: '#0B1B2B', padding: '28px 72px', position: 'relative', overflow: 'hidden' }}&gt;&#10;    &lt;Box style={{ position: 'absolute', right: 0, bottom: 0, opacity: 0.09 }}&gt;&#10;        &lt;svg width='200' height='200' viewBox='0 0 200 200'&gt;&#10;            &lt;circle cx='200' cy='0' r='196' fill='none' stroke='#2E7FE0' strokeWidth='2' /&gt;&#10;            &lt;circle cx='200' cy='0' r='150' fill='none' stroke='#2E7FE0' strokeWidth='1.5' /&gt;&#10;            &lt;circle cx='200' cy='0' r='104' fill='none' stroke='#48C9B0' strokeWidth='1.5' /&gt;&#10;        &lt;/svg&gt;&#10;    &lt;/Box&gt;&#10;&#10;    &lt;Box style={{ height: 100, flexDirection: 'row', alignItems: 'center', gap: 18 }}&gt;&#10;        &lt;Box style={{ width: 4, height: 38, background: '#2E7FE0' }} /&gt;&#10;        &lt;Text style={{ fontSize: 38, fontWeight: 'bold', color: '#E8EEF6', letterSpacing: 1 }}&gt;从像素到毫米：误差在标定阶段就被消掉&lt;/Text&gt;&#10;    &lt;/Box&gt;&#10;&#10;    &lt;Box style={{ height: 524, flexDirection: 'row', gap: 34 }}&gt;&#10;&#10;        &lt;Box style={{ flex: 1, padding: '24px 24px', background: 'rgba(18,41,63,0.72)', borderRadius: 12, border: '1px solid rgba(232,238,246,0.10)', justifyContent: 'space-between' }}&gt;&#10;            &lt;Box&gt;&#10;                &lt;Text style={{ fontSize: 20, fontWeight: 'bold', color: '#E8EEF6' }}&gt;九点标定：把图像坐标对齐到产线坐标系&lt;/Text&gt;&#10;                &lt;Box style={{ flexDirection: 'row', gap: 12, marginTop: 18, alignItems: 'flex-start' }}&gt;&#10;                    &lt;Box style={{ flex: 1 }}&gt;&#10;                        &lt;Text style={{ fontSize: 14, color: '#7FB4EE', letterSpacing: 1 }}&gt;像素平面 / Pixel&lt;/Text&gt;&#10;                        &lt;Box style={{ marginTop: 8 }}&gt;&#10;                             &lt;svg width='258' height='258' viewBox='0 0 270 270'&gt;&#10;                                &lt;rect x='10' y='10' width='250' height='250' rx='8' fill='rgba(46,127,224,0.07)' stroke='rgba(46,127,224,0.45)' strokeWidth='1' /&gt;&#10;                                &lt;line x1='93' y1='10' x2='93' y2='260' stroke='rgba(232,238,246,0.10)' strokeWidth='1' /&gt;&#10;                                &lt;line x1='176' y1='10' x2='176' y2='260' stroke='rgba(232,238,246,0.10)' strokeWidth='1' /&gt;&#10;                                &lt;line x1='10' y1='93' x2='260' y2='93' stroke='rgba(232,238,246,0.10)' strokeWidth='1' /&gt;&#10;                                &lt;line x1='10' y1='176' x2='260' y2='176' stroke='rgba(232,238,246,0.10)' strokeWidth='1' /&gt;&#10;                                &lt;circle cx='52' cy='52' r='7' fill='#2E7FE0' /&gt;&#10;                                &lt;circle cx='135' cy='52' r='7' fill='#2E7FE0' /&gt;&#10;                                &lt;circle cx='218' cy='52' r='7' fill='#2E7FE0' /&gt;&#10;                                &lt;circle cx='52' cy='135' r='7' fill='#2E7FE0' /&gt;&#10;                                &lt;circle cx='135' cy='135' r='7' fill='#F2B33D' /&gt;&#10;                                &lt;circle cx='218' cy='135' r='7' fill='#2E7FE0' /&gt;&#10;                                &lt;circle cx='52' cy='218' r='7' fill='#2E7FE0' /&gt;&#10;                                &lt;circle cx='135' cy='218' r='7' fill='#2E7FE0' /&gt;&#10;                                &lt;circle cx='218' cy='218' r='7' fill='#2E7FE0' /&gt;&#10;                            &lt;/svg&gt;&#10;                        &lt;/Box&gt;&#10;                    &lt;/Box&gt;&#10;                    &lt;Box style={{ width: 44, justifyContent: 'center', paddingTop: 100 }}&gt;&#10;                        &lt;svg width='44' height='30' viewBox='0 0 44 30'&gt;&#10;                            &lt;path d='M2 15 L34 15' stroke='#F2B33D' strokeWidth='2' /&gt;&#10;                            &lt;path d='M30 8 L42 15 L30 22 Z' fill='#F2B33D' /&gt;&#10;                        &lt;/svg&gt;&#10;                        &lt;Text style={{ fontSize: 12, color: '#8FA9C4', textAlign: 'center', marginTop: 8 }}&gt;标定&lt;/Text&gt;&#10;                    &lt;/Box&gt;&#10;                    &lt;Box style={{ flex: 1 }}&gt;&#10;                        &lt;Text style={{ fontSize: 14, color: '#7FDDC7', letterSpacing: 1 }}&gt;世界坐标 / mm&lt;/Text&gt;&#10;                        &lt;Box style={{ marginTop: 8 }}&gt;&#10;                             &lt;svg width='258' height='258' viewBox='0 0 270 270'&gt;&#10;                                &lt;rect x='10' y='10' width='250' height='250' rx='8' fill='rgba(72,201,176,0.07)' stroke='rgba(72,201,176,0.45)' strokeWidth='1' /&gt;&#10;                                &lt;line x1='93' y1='10' x2='93' y2='260' stroke='rgba(232,238,246,0.10)' strokeWidth='1' /&gt;&#10;                                &lt;line x1='176' y1='10' x2='176' y2='260' stroke='rgba(232,238,246,0.10)' strokeWidth='1' /&gt;&#10;                                &lt;line x1='10' y1='93' x2='260' y2='93' stroke='rgba(232,238,246,0.10)' strokeWidth='1' /&gt;&#10;                                &lt;line x1='10' y1='176' x2='260' y2='176' stroke='rgba(232,238,246,0.10)' strokeWidth='1' /&gt;&#10;                                &lt;circle cx='52' cy='52' r='7' fill='#48C9B0' /&gt;&#10;                                &lt;circle cx='135' cy='52' r='7' fill='#48C9B0' /&gt;&#10;                                &lt;circle cx='218' cy='52' r='7' fill='#48C9B0' /&gt;&#10;                                &lt;circle cx='52' cy='135' r='7' fill='#48C9B0' /&gt;&#10;                                &lt;circle cx='135' cy='135' r='7' fill='#F2B33D' /&gt;&#10;                                &lt;circle cx='218' cy='135' r='7' fill='#48C9B0' /&gt;&#10;                                &lt;circle cx='52' cy='218' r='7' fill='#48C9B0' /&gt;&#10;                                &lt;circle cx='135' cy='218' r='7' fill='#48C9B0' /&gt;&#10;                                &lt;circle cx='218' cy='218' r='7' fill='#48C9B0' /&gt;&#10;                            &lt;/svg&gt;&#10;                        &lt;/Box&gt;&#10;                    &lt;/Box&gt;&#10;                &lt;/Box&gt;&#10;            &lt;/Box&gt;&#10;            &lt;Box style={{ padding: '12px 16px', borderRadius: 8, background: 'rgba(46,127,224,0.12)', borderLeft: '3px solid #2E7FE0' }}&gt;&#10;                &lt;Text style={{ fontSize: 15, color: '#C6D6E6', lineHeight: 1.7 }}&gt;&#10;                    标定之后，&quot;绑定&quot;绑的不只是码和物，还有它们在真实空间里的位置。&#10;                &lt;/Text&gt;&#10;            &lt;/Box&gt;&#10;        &lt;/Box&gt;&#10;&#10;        &lt;Box style={{ width: 460, justifyContent: 'space-between' }}&gt;&#10;            &lt;Box&gt;&#10;                &lt;Text style={{ fontSize: 24, fontWeight: 'bold', color: '#E8EEF6' }}&gt;绑定发生在标定之后&lt;/Text&gt;&#10;                &lt;Text style={{ fontSize: 17, color: '#8FA9C4', lineHeight: 1.9, marginTop: 14 }}&gt;&#10;                    九点标定用棋盘或圆点靶标确定原点与 X、Y 方向，把像素坐标换算成毫米级世界坐标；检测结果与条码结果按同帧绑成一条记录，并带编码器值。&#10;                &lt;/Text&gt;&#10;            &lt;/Box&gt;&#10;            &lt;Image src='assets/data-page.png' style={{ width: 460, height: 270, objectFit: 'contain', borderRadius: 8, border: '1px solid rgba(232,238,246,0.12)' }} /&gt;&#10;            &lt;Box style={{ flexDirection: 'row', gap: 10 }}&gt;&#10;                {['X / Y 世界坐标', '旋转角', '当帧编码器值'].map((t, i) =&gt; (&#10;                    &lt;Box key={i} style={{ padding: '7px 14px', borderRadius: 999, border: '1px solid rgba(72,201,176,0.45)', background: 'rgba(72,201,176,0.10)' }}&gt;&#10;                        &lt;Text style={{ fontSize: 14, color: '#7FDDC7' }}&gt;{t}&lt;/Text&gt;&#10;                    &lt;/Box&gt;&#10;                ))}&#10;            &lt;/Box&gt;&#10;        &lt;/Box&gt;&#10;&#10;    &lt;/Box&gt;&#10;&#10;    &lt;Box style={{ height: 40, flexDirection: 'row', alignItems: 'center', justifyContent: 'space-between' }}&gt;&#10;        &lt;Text style={{ fontSize: 14, color: '#4A6480', letterSpacing: 1 }}&gt;CAV 物码绑定视觉系统&lt;/Text&gt;&#10;        &lt;Text style={{ fontSize: 14, color: '#4A6480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sp>
        <p:nvSpPr>
          <p:cNvPr id="440" name=""/>
          <p:cNvSpPr/>
          <p:nvPr/>
        </p:nvSpPr>
        <p:spPr>
          <a:xfrm rot="0" flipH="0" flipV="0">
            <a:off x="685800" y="561975"/>
            <a:ext cx="38100" cy="361950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95350" y="523875"/>
            <a:ext cx="66865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75">
                <a:solidFill>
                  <a:srgbClr val="E8EEF6"/>
                </a:solidFill>
                <a:latin typeface="Microsoft YaHei"/>
                <a:ea typeface="Microsoft YaHei"/>
              </a:rPr>
              <a:t>从像素到毫米：误差在标定阶段就被消掉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85800" y="1219200"/>
            <a:ext cx="6115050" cy="4991100"/>
          </a:xfrm>
          <a:prstGeom prst="roundRect">
            <a:avLst>
              <a:gd name="adj" fmla="val 2290"/>
            </a:avLst>
          </a:prstGeom>
          <a:solidFill>
            <a:srgbClr val="12293F">
              <a:alpha val="72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914400" y="1447800"/>
            <a:ext cx="5657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6"/>
                </a:solidFill>
                <a:latin typeface="Microsoft YaHei"/>
                <a:ea typeface="Microsoft YaHei"/>
              </a:rPr>
              <a:t>九点标定：把图像坐标对齐到产线坐标系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914400" y="1847850"/>
            <a:ext cx="2505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7FB4EE"/>
                </a:solidFill>
                <a:latin typeface="Microsoft YaHei"/>
                <a:ea typeface="Microsoft YaHei"/>
              </a:rPr>
              <a:t>像素平面</a:t>
            </a:r>
            <a:r>
              <a:rPr lang="en-US" sz="1050" spc="75">
                <a:solidFill>
                  <a:srgbClr val="7FB4EE"/>
                </a:solidFill>
                <a:latin typeface="Microsoft YaHei"/>
                <a:ea typeface="Microsoft YaHei"/>
              </a:rPr>
              <a:t xml:space="preserve"> / Pixel</a:t>
            </a:r>
            <a:endParaRPr/>
          </a:p>
        </p:txBody>
      </p:sp>
      <p:pic>
        <p:nvPicPr>
          <p:cNvPr id="445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2085975"/>
            <a:ext cx="2457450" cy="2457450"/>
          </a:xfrm>
          <a:prstGeom prst="rect">
            <a:avLst/>
          </a:prstGeom>
          <a:ln/>
        </p:spPr>
      </p:pic>
      <p:pic>
        <p:nvPicPr>
          <p:cNvPr id="446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533775" y="2800350"/>
            <a:ext cx="419100" cy="285750"/>
          </a:xfrm>
          <a:prstGeom prst="rect">
            <a:avLst/>
          </a:prstGeom>
          <a:ln/>
        </p:spPr>
      </p:pic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3533775" y="3162300"/>
            <a:ext cx="4191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FA9C4"/>
                </a:solidFill>
                <a:latin typeface="Microsoft YaHei"/>
                <a:ea typeface="Microsoft YaHei"/>
              </a:rPr>
              <a:t>标定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4067175" y="1847850"/>
            <a:ext cx="2505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7FDDC7"/>
                </a:solidFill>
                <a:latin typeface="Microsoft YaHei"/>
                <a:ea typeface="Microsoft YaHei"/>
              </a:rPr>
              <a:t>世界坐标</a:t>
            </a:r>
            <a:r>
              <a:rPr lang="en-US" sz="1050" spc="75">
                <a:solidFill>
                  <a:srgbClr val="7FDDC7"/>
                </a:solidFill>
                <a:latin typeface="Microsoft YaHei"/>
                <a:ea typeface="Microsoft YaHei"/>
              </a:rPr>
              <a:t xml:space="preserve"> / mm</a:t>
            </a:r>
            <a:endParaRPr/>
          </a:p>
        </p:txBody>
      </p:sp>
      <p:pic>
        <p:nvPicPr>
          <p:cNvPr id="449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067175" y="2085975"/>
            <a:ext cx="2457450" cy="2457450"/>
          </a:xfrm>
          <a:prstGeom prst="rect">
            <a:avLst/>
          </a:prstGeom>
          <a:ln/>
        </p:spPr>
      </p:pic>
      <p:sp>
        <p:nvSpPr>
          <p:cNvPr id="450" name=""/>
          <p:cNvSpPr/>
          <p:nvPr/>
        </p:nvSpPr>
        <p:spPr>
          <a:xfrm rot="0" flipH="0" flipV="0">
            <a:off x="942975" y="5457825"/>
            <a:ext cx="5657850" cy="523875"/>
          </a:xfrm>
          <a:prstGeom prst="roundRect">
            <a:avLst>
              <a:gd name="adj" fmla="val 14545"/>
            </a:avLst>
          </a:prstGeom>
          <a:solidFill>
            <a:srgbClr val="2E7FE0">
              <a:alpha val="12000"/>
            </a:srgbClr>
          </a:solidFill>
          <a:ln/>
        </p:spPr>
        <p:txBody>
          <a:bodyPr/>
          <a:p/>
        </p:txBody>
      </p:sp>
      <p:sp>
        <p:nvSpPr>
          <p:cNvPr id="451" name=""/>
          <p:cNvSpPr/>
          <p:nvPr/>
        </p:nvSpPr>
        <p:spPr>
          <a:xfrm rot="0" flipH="0" flipV="0">
            <a:off x="942975" y="5457825"/>
            <a:ext cx="5657850" cy="523875"/>
          </a:xfrm>
          <a:custGeom>
            <a:pathLst>
              <a:path w="594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E7FE0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095375" y="5572125"/>
            <a:ext cx="53244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标定之后，</a:t>
            </a:r>
            <a:r>
              <a:rPr lang="en-US" sz="1125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绑定</a:t>
            </a:r>
            <a:r>
              <a:rPr lang="en-US" sz="1125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绑的不只是码和物，还有它们在真实空间里的位置。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7124700" y="1219200"/>
            <a:ext cx="4381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6"/>
                </a:solidFill>
                <a:latin typeface="Microsoft YaHei"/>
                <a:ea typeface="Microsoft YaHei"/>
              </a:rPr>
              <a:t>绑定发生在标定之后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7124700" y="1628775"/>
            <a:ext cx="438150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九点标定用棋盘或圆点靶标确定原点与</a:t>
            </a:r>
            <a:r>
              <a:rPr lang="en-US" sz="1275">
                <a:solidFill>
                  <a:srgbClr val="8FA9C4"/>
                </a:solidFill>
                <a:latin typeface="Microsoft YaHei"/>
                <a:ea typeface="Microsoft YaHei"/>
              </a:rPr>
              <a:t xml:space="preserve"> X</a:t>
            </a: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8FA9C4"/>
                </a:solidFill>
                <a:latin typeface="Microsoft YaHei"/>
                <a:ea typeface="Microsoft YaHei"/>
              </a:rPr>
              <a:t xml:space="preserve">Y </a:t>
            </a: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方向，把像素坐标换算成毫米级世界坐标；检测结果与条码结果按同帧绑成一条记录，并带编码器值。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7124700" y="3048000"/>
            <a:ext cx="4381500" cy="2571750"/>
          </a:xfrm>
          <a:prstGeom prst="rect">
            <a:avLst/>
          </a:prstGeom>
          <a:ln w="12700">
            <a:solidFill>
              <a:srgbClr val="E8EEF6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56" name=""/>
          <p:cNvPicPr>
            <a:picLocks noChangeAspect="1"/>
          </p:cNvPicPr>
          <p:nvPr/>
        </p:nvPicPr>
        <p:blipFill>
          <a:blip r:embed="rId4"/>
          <a:srcRect l="0" t="4255" r="0" b="4255"/>
          <a:stretch>
            <a:fillRect/>
          </a:stretch>
        </p:blipFill>
        <p:spPr>
          <a:xfrm rot="0" flipH="0" flipV="0">
            <a:off x="7124700" y="3048000"/>
            <a:ext cx="4381500" cy="2571750"/>
          </a:xfrm>
          <a:prstGeom prst="roundRect">
            <a:avLst>
              <a:gd name="adj" fmla="val 2963"/>
            </a:avLst>
          </a:prstGeom>
          <a:ln/>
        </p:spPr>
      </p:pic>
      <p:sp>
        <p:nvSpPr>
          <p:cNvPr id="457" name=""/>
          <p:cNvSpPr/>
          <p:nvPr/>
        </p:nvSpPr>
        <p:spPr>
          <a:xfrm rot="0" flipH="0" flipV="0">
            <a:off x="7124700" y="5915025"/>
            <a:ext cx="1143000" cy="295275"/>
          </a:xfrm>
          <a:prstGeom prst="roundRect">
            <a:avLst>
              <a:gd name="adj" fmla="val 3222581"/>
            </a:avLst>
          </a:prstGeom>
          <a:solidFill>
            <a:srgbClr val="48C9B0">
              <a:alpha val="10000"/>
            </a:srgbClr>
          </a:solidFill>
          <a:ln w="12700">
            <a:solidFill>
              <a:srgbClr val="48C9B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7258050" y="598170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FDDC7"/>
                </a:solidFill>
                <a:latin typeface="Microsoft YaHei"/>
                <a:ea typeface="Microsoft YaHei"/>
              </a:rPr>
              <a:t xml:space="preserve">X / Y </a:t>
            </a:r>
            <a:r>
              <a:rPr lang="zh-CN" sz="1050">
                <a:solidFill>
                  <a:srgbClr val="7FDDC7"/>
                </a:solidFill>
                <a:latin typeface="Microsoft YaHei"/>
                <a:ea typeface="Microsoft YaHei"/>
              </a:rPr>
              <a:t>世界坐标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8362950" y="5915025"/>
            <a:ext cx="666750" cy="295275"/>
          </a:xfrm>
          <a:prstGeom prst="roundRect">
            <a:avLst>
              <a:gd name="adj" fmla="val 3222581"/>
            </a:avLst>
          </a:prstGeom>
          <a:solidFill>
            <a:srgbClr val="48C9B0">
              <a:alpha val="10000"/>
            </a:srgbClr>
          </a:solidFill>
          <a:ln w="12700">
            <a:solidFill>
              <a:srgbClr val="48C9B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496300" y="59817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FDDC7"/>
                </a:solidFill>
                <a:latin typeface="Microsoft YaHei"/>
                <a:ea typeface="Microsoft YaHei"/>
              </a:rPr>
              <a:t>旋转角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9124950" y="5915025"/>
            <a:ext cx="1066800" cy="295275"/>
          </a:xfrm>
          <a:prstGeom prst="roundRect">
            <a:avLst>
              <a:gd name="adj" fmla="val 3222581"/>
            </a:avLst>
          </a:prstGeom>
          <a:solidFill>
            <a:srgbClr val="48C9B0">
              <a:alpha val="10000"/>
            </a:srgbClr>
          </a:solidFill>
          <a:ln w="12700">
            <a:solidFill>
              <a:srgbClr val="48C9B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9258300" y="59817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FDDC7"/>
                </a:solidFill>
                <a:latin typeface="Microsoft YaHei"/>
                <a:ea typeface="Microsoft YaHei"/>
              </a:rPr>
              <a:t>当帧编码器值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4A6480"/>
                </a:solidFill>
                <a:latin typeface="Microsoft YaHei"/>
                <a:ea typeface="Microsoft YaHei"/>
              </a:rPr>
              <a:t xml:space="preserve">CAV </a:t>
            </a:r>
            <a:r>
              <a:rPr lang="zh-CN" sz="1050" spc="75">
                <a:solidFill>
                  <a:srgbClr val="4A6480"/>
                </a:solidFill>
                <a:latin typeface="Microsoft YaHei"/>
                <a:ea typeface="Microsoft YaHei"/>
              </a:rPr>
              <a:t>物码绑定视觉系统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1049000" y="6324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6480"/>
                </a:solidFill>
                <a:latin typeface="Microsoft YaHei"/>
                <a:ea typeface="Microsoft YaHei"/>
              </a:rPr>
              <a:t>09 / 16</a:t>
            </a:r>
            <a:endParaRPr/>
          </a:p>
        </p:txBody>
      </p:sp>
      <p:pic>
        <p:nvPicPr>
          <p:cNvPr id="465" name=""/>
          <p:cNvPicPr>
            <a:picLocks noChangeAspect="1"/>
          </p:cNvPicPr>
          <p:nvPr/>
        </p:nvPicPr>
        <p:blipFill>
          <a:blip r:embed="rId5">
            <a:alphaModFix amt="9000"/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0287000" y="4953000"/>
            <a:ext cx="1905000" cy="1905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8" name="" descr="&lt;Slide style={{ width: 1280, height: 720, background: '#0B1B2B', padding: '28px 72px', position: 'relative', overflow: 'hidden' }}&gt;&#10;    &lt;Box style={{ position: 'absolute', right: 0, bottom: 0, opacity: 0.09 }}&gt;&#10;        &lt;svg width='200' height='200' viewBox='0 0 200 200'&gt;&#10;            &lt;circle cx='200' cy='0' r='196' fill='none' stroke='#2E7FE0' strokeWidth='2' /&gt;&#10;            &lt;circle cx='200' cy='0' r='150' fill='none' stroke='#2E7FE0' strokeWidth='1.5' /&gt;&#10;            &lt;circle cx='200' cy='0' r='104' fill='none' stroke='#48C9B0' strokeWidth='1.5' /&gt;&#10;        &lt;/svg&gt;&#10;    &lt;/Box&gt;&#10;&#10;    &lt;Box style={{ height: 100, flexDirection: 'row', alignItems: 'center', gap: 18 }}&gt;&#10;        &lt;Box style={{ width: 4, height: 38, background: '#2E7FE0' }} /&gt;&#10;        &lt;Text style={{ fontSize: 38, fontWeight: 'bold', color: '#E8EEF6', letterSpacing: 1 }}&gt;头尾判定：五级级联与弱信号让位&lt;/Text&gt;&#10;    &lt;/Box&gt;&#10;&#10;    &lt;Box style={{ height: 524, flexDirection: 'row', gap: 34 }}&gt;&#10;&#10;        &lt;Box style={{ flex: 1, justifyContent: 'space-between' }}&gt;&#10;            &lt;Box style={{ gap: 13 }}&gt;&#10;                &lt;Box style={{ width: '100%', height: 46, borderRadius: 8, background: 'rgba(242,179,61,0.16)', borderLeft: '3px solid #F2B33D', flexDirection: 'row', alignItems: 'center', paddingLeft: 16, paddingRight: 16, gap: 14 }}&gt;&#10;                    &lt;Text style={{ fontSize: 14, fontFamily: 'Consolas', fontWeight: 'bold', color: '#F2B33D', width: 24 }}&gt;L1&lt;/Text&gt;&#10;                    &lt;Text style={{ fontSize: 18, fontWeight: 'bold', color: '#E8EEF6', width: 92 }}&gt;二维码&lt;/Text&gt;&#10;                    &lt;Text style={{ fontSize: 15, color: '#8FA9C4', flex: 1 }}&gt;读到码就直接用真值，最可靠的一级&lt;/Text&gt;&#10;                &lt;/Box&gt;&#10;&#10;                &lt;Box style={{ width: '93%', height: 46, borderRadius: 8, background: 'rgba(46,127,224,0.20)', borderLeft: '3px solid #2E7FE0', flexDirection: 'row', alignItems: 'center', paddingLeft: 16, paddingRight: 16, gap: 14 }}&gt;&#10;                    &lt;Text style={{ fontSize: 14, fontFamily: 'Consolas', fontWeight: 'bold', color: '#7FB4EE', width: 24 }}&gt;L2&lt;/Text&gt;&#10;                    &lt;Text style={{ fontSize: 18, fontWeight: 'bold', color: '#E8EEF6', width: 92 }}&gt;角度模型&lt;/Text&gt;&#10;                    &lt;Text style={{ fontSize: 15, color: '#8FA9C4', flex: 1 }}&gt;只输出翻转信号，角度数值仍由掩码主轴决定&lt;/Text&gt;&#10;                &lt;/Box&gt;&#10;&#10;                &lt;Box style={{ width: '86%', height: 46, borderRadius: 8, background: 'rgba(46,127,224,0.16)', borderLeft: '3px solid #2E7FE0', flexDirection: 'row', alignItems: 'center', paddingLeft: 16, paddingRight: 16, gap: 14 }}&gt;&#10;                    &lt;Text style={{ fontSize: 14, fontFamily: 'Consolas', fontWeight: 'bold', color: '#7FB4EE', width: 24 }}&gt;L3&lt;/Text&gt;&#10;                    &lt;Text style={{ fontSize: 18, fontWeight: 'bold', color: '#E8EEF6', width: 92 }}&gt;几何特征&lt;/Text&gt;&#10;                    &lt;Text style={{ fontSize: 15, color: '#8FA9C4', flex: 1 }}&gt;用品与特征质心连线的方向做头尾消歧&lt;/Text&gt;&#10;                &lt;/Box&gt;&#10;&#10;                &lt;Box style={{ width: '79%', height: 46, borderRadius: 8, background: 'rgba(72,201,176,0.16)', borderLeft: '3px solid #48C9B0', flexDirection: 'row', alignItems: 'center', paddingLeft: 16, paddingRight: 16, gap: 14 }}&gt;&#10;                    &lt;Text style={{ fontSize: 14, fontFamily: 'Consolas', fontWeight: 'bold', color: '#7FDDC7', width: 24 }}&gt;L4&lt;/Text&gt;&#10;                    &lt;Text style={{ fontSize: 18, fontWeight: 'bold', color: '#E8EEF6', width: 92 }}&gt;亮度判向&lt;/Text&gt;&#10;                    &lt;Text style={{ fontSize: 15, color: '#8FA9C4', flex: 1 }}&gt;几何特征落进死区时，用明暗分布补位&lt;/Text&gt;&#10;                &lt;/Box&gt;&#10;&#10;                &lt;Box style={{ width: '72%', height: 46, borderRadius: 8, background: 'rgba(72,201,176,0.10)', borderLeft: '3px solid rgba(72,201,176,0.6)', flexDirection: 'row', alignItems: 'center', paddingLeft: 16, paddingRight: 16, gap: 14 }}&gt;&#10;                    &lt;Text style={{ fontSize: 14, fontFamily: 'Consolas', fontWeight: 'bold', color: '#7FDDC7', width: 24 }}&gt;L5&lt;/Text&gt;&#10;                    &lt;Text style={{ fontSize: 18, fontWeight: 'bold', color: '#E8EEF6', width: 92 }}&gt;特征池兜底&lt;/Text&gt;&#10;                    &lt;Text style={{ fontSize: 15, color: '#8FA9C4', flex: 1 }}&gt;前面全部沉默时，由综合特征池给结论&lt;/Text&gt;&#10;                &lt;/Box&gt;&#10;            &lt;/Box&gt;&#10;&#10;            &lt;Box style={{ padding: '12px 18px', borderRadius: 8, background: 'rgba(242,179,61,0.10)', borderLeft: '3px solid #F2B33D' }}&gt;&#10;                &lt;Text style={{ fontSize: 15, color: '#C6D6E6', lineHeight: 1.7 }}&gt;&#10;                    弱信号让位：刚过死区的弱特征不再压住后面信号更强的特征；但让位只做确认，不做翻案。&#10;                &lt;/Text&gt;&#10;            &lt;/Box&gt;&#10;        &lt;/Box&gt;&#10;&#10;        &lt;Box style={{ width: 440, justifyContent: 'space-between' }}&gt;&#10;            &lt;Box&gt;&#10;                &lt;Text style={{ fontSize: 15, color: '#48C9B0', letterSpacing: 3, fontWeight: 'bold' }}&gt;TRACEABILITY&lt;/Text&gt;&#10;                &lt;Text style={{ fontSize: 26, fontWeight: 'bold', color: '#E8EEF6', lineHeight: 1.45, marginTop: 16 }}&gt;&#10;                    头尾判不准&#10;                    &lt;br /&gt;&#10;                    前面全白做&#10;                &lt;/Text&gt;&#10;                &lt;Box style={{ width: 48, height: 3, background: '#2E7FE0', marginTop: 20, marginBottom: 18 }} /&gt;&#10;                &lt;Text style={{ fontSize: 17, color: '#8FA9C4', lineHeight: 1.85 }}&gt;&#10;                    没有任何单一特征在所有产品上都成立。系统因此按固定优先级级联，先出死区者发言，并用两组指标把判定质量暴露出来。&#10;                &lt;/Text&gt;&#10;            &lt;/Box&gt;&#10;            &lt;Box&gt;&#10;                &lt;Box style={{ padding: '14px 16px', borderRadius: 10, background: 'rgba(18,41,63,0.85)', border: '1px solid rgba(232,238,246,0.10)', marginBottom: 12 }}&gt;&#10;                    &lt;Text style={{ fontSize: 16, fontWeight: 'bold', color: '#F2B33D' }}&gt;QR 一致率 —— 判得对不对&lt;/Text&gt;&#10;                    &lt;Text style={{ fontSize: 15, color: '#8FA9C4', lineHeight: 1.6, marginTop: 6 }}&gt;对照二维码真值衡量每个特征的准确度，样本不足会明确标注&lt;/Text&gt;&#10;                &lt;/Box&gt;&#10;                &lt;Box style={{ padding: '14px 16px', borderRadius: 10, background: 'rgba(18,41,63,0.85)', border: '1px solid rgba(232,238,246,0.10)' }}&gt;&#10;                    &lt;Text style={{ fontSize: 16, fontWeight: 'bold', color: '#7FDDC7' }}&gt;特征分歧度 —— 判得稳不稳&lt;/Text&gt;&#10;                    &lt;Text style={{ fontSize: 15, color: '#8FA9C4', lineHeight: 1.6, marginTop: 6 }}&gt;完全不依赖真值，无码产品同样可评估，把不可见的错误变成可诊断的数据&lt;/Text&gt;&#10;                &lt;/Box&gt;&#10;            &lt;/Box&gt;&#10;        &lt;/Box&gt;&#10;&#10;    &lt;/Box&gt;&#10;&#10;    &lt;Box style={{ height: 40, flexDirection: 'row', alignItems: 'center', justifyContent: 'space-between' }}&gt;&#10;        &lt;Text style={{ fontSize: 14, color: '#4A6480', letterSpacing: 1 }}&gt;CAV 物码绑定视觉系统&lt;/Text&gt;&#10;        &lt;Text style={{ fontSize: 14, color: '#4A6480' }}&gt;10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685800" y="561975"/>
            <a:ext cx="38100" cy="361950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95350" y="523875"/>
            <a:ext cx="55721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75">
                <a:solidFill>
                  <a:srgbClr val="E8EEF6"/>
                </a:solidFill>
                <a:latin typeface="Microsoft YaHei"/>
                <a:ea typeface="Microsoft YaHei"/>
              </a:rPr>
              <a:t>头尾判定：五级级联与弱信号让位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714375" y="1219200"/>
            <a:ext cx="6305550" cy="438150"/>
          </a:xfrm>
          <a:prstGeom prst="roundRect">
            <a:avLst>
              <a:gd name="adj" fmla="val 17391"/>
            </a:avLst>
          </a:prstGeom>
          <a:solidFill>
            <a:srgbClr val="F2B33D">
              <a:alpha val="16000"/>
            </a:srgbClr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714375" y="1219200"/>
            <a:ext cx="6305550" cy="438150"/>
          </a:xfrm>
          <a:custGeom>
            <a:pathLst>
              <a:path w="662" h="4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1"/>
                </a:lnTo>
                <a:cubicBezTo>
                  <a:pt x="3" y="43"/>
                  <a:pt x="5" y="45"/>
                  <a:pt x="7" y="46"/>
                </a:cubicBezTo>
                <a:cubicBezTo>
                  <a:pt x="3" y="45"/>
                  <a:pt x="0" y="42"/>
                  <a:pt x="0" y="3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B33D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66775" y="1362075"/>
            <a:ext cx="22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2B33D"/>
                </a:solidFill>
                <a:latin typeface="Consolas"/>
                <a:ea typeface="Consolas"/>
              </a:rPr>
              <a:t>L1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228725" y="133350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6"/>
                </a:solidFill>
                <a:latin typeface="Microsoft YaHei"/>
                <a:ea typeface="Microsoft YaHei"/>
              </a:rPr>
              <a:t>二维码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2238375" y="1352550"/>
            <a:ext cx="460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读到码就直接用真值，最可靠的一级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714375" y="1781175"/>
            <a:ext cx="5867400" cy="438150"/>
          </a:xfrm>
          <a:prstGeom prst="roundRect">
            <a:avLst>
              <a:gd name="adj" fmla="val 17391"/>
            </a:avLst>
          </a:prstGeom>
          <a:solidFill>
            <a:srgbClr val="2E7FE0">
              <a:alpha val="20000"/>
            </a:srgbClr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714375" y="1781175"/>
            <a:ext cx="5867400" cy="438150"/>
          </a:xfrm>
          <a:custGeom>
            <a:pathLst>
              <a:path w="616" h="4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1"/>
                </a:lnTo>
                <a:cubicBezTo>
                  <a:pt x="3" y="43"/>
                  <a:pt x="5" y="45"/>
                  <a:pt x="7" y="46"/>
                </a:cubicBezTo>
                <a:cubicBezTo>
                  <a:pt x="3" y="45"/>
                  <a:pt x="0" y="42"/>
                  <a:pt x="0" y="3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E7FE0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66775" y="1924050"/>
            <a:ext cx="22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7FB4EE"/>
                </a:solidFill>
                <a:latin typeface="Consolas"/>
                <a:ea typeface="Consolas"/>
              </a:rPr>
              <a:t>L2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228725" y="1895475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6"/>
                </a:solidFill>
                <a:latin typeface="Microsoft YaHei"/>
                <a:ea typeface="Microsoft YaHei"/>
              </a:rPr>
              <a:t>角度模型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238375" y="1914525"/>
            <a:ext cx="4162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只输出翻转信号，角度数值仍由掩码主轴决定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714375" y="2343150"/>
            <a:ext cx="5419725" cy="438150"/>
          </a:xfrm>
          <a:prstGeom prst="roundRect">
            <a:avLst>
              <a:gd name="adj" fmla="val 17391"/>
            </a:avLst>
          </a:prstGeom>
          <a:solidFill>
            <a:srgbClr val="2E7FE0">
              <a:alpha val="16000"/>
            </a:srgbClr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714375" y="2343150"/>
            <a:ext cx="5419725" cy="438150"/>
          </a:xfrm>
          <a:custGeom>
            <a:pathLst>
              <a:path w="569" h="4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1"/>
                </a:lnTo>
                <a:cubicBezTo>
                  <a:pt x="3" y="43"/>
                  <a:pt x="5" y="45"/>
                  <a:pt x="7" y="46"/>
                </a:cubicBezTo>
                <a:cubicBezTo>
                  <a:pt x="3" y="45"/>
                  <a:pt x="0" y="42"/>
                  <a:pt x="0" y="3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E7FE0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66775" y="2486025"/>
            <a:ext cx="22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7FB4EE"/>
                </a:solidFill>
                <a:latin typeface="Consolas"/>
                <a:ea typeface="Consolas"/>
              </a:rPr>
              <a:t>L3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228725" y="245745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6"/>
                </a:solidFill>
                <a:latin typeface="Microsoft YaHei"/>
                <a:ea typeface="Microsoft YaHei"/>
              </a:rPr>
              <a:t>几何特征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2238375" y="247650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用品与特征质心连线的方向做头尾消歧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714375" y="2905125"/>
            <a:ext cx="4981575" cy="438150"/>
          </a:xfrm>
          <a:prstGeom prst="roundRect">
            <a:avLst>
              <a:gd name="adj" fmla="val 17391"/>
            </a:avLst>
          </a:prstGeom>
          <a:solidFill>
            <a:srgbClr val="48C9B0">
              <a:alpha val="16000"/>
            </a:srgbClr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714375" y="2905125"/>
            <a:ext cx="4981575" cy="438150"/>
          </a:xfrm>
          <a:custGeom>
            <a:pathLst>
              <a:path w="523" h="4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1"/>
                </a:lnTo>
                <a:cubicBezTo>
                  <a:pt x="3" y="43"/>
                  <a:pt x="5" y="45"/>
                  <a:pt x="7" y="46"/>
                </a:cubicBezTo>
                <a:cubicBezTo>
                  <a:pt x="3" y="45"/>
                  <a:pt x="0" y="42"/>
                  <a:pt x="0" y="3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8C9B0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66775" y="3048000"/>
            <a:ext cx="22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7FDDC7"/>
                </a:solidFill>
                <a:latin typeface="Consolas"/>
                <a:ea typeface="Consolas"/>
              </a:rPr>
              <a:t>L4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228725" y="3019425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6"/>
                </a:solidFill>
                <a:latin typeface="Microsoft YaHei"/>
                <a:ea typeface="Microsoft YaHei"/>
              </a:rPr>
              <a:t>亮度判向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2238375" y="3038475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几何特征落进死区时，用明暗分布补位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714375" y="3467100"/>
            <a:ext cx="4543425" cy="438150"/>
          </a:xfrm>
          <a:prstGeom prst="roundRect">
            <a:avLst>
              <a:gd name="adj" fmla="val 17391"/>
            </a:avLst>
          </a:prstGeom>
          <a:solidFill>
            <a:srgbClr val="48C9B0">
              <a:alpha val="10000"/>
            </a:srgbClr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714375" y="3467100"/>
            <a:ext cx="4543425" cy="438150"/>
          </a:xfrm>
          <a:custGeom>
            <a:pathLst>
              <a:path w="477" h="4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1"/>
                </a:lnTo>
                <a:cubicBezTo>
                  <a:pt x="3" y="43"/>
                  <a:pt x="5" y="45"/>
                  <a:pt x="7" y="46"/>
                </a:cubicBezTo>
                <a:cubicBezTo>
                  <a:pt x="3" y="45"/>
                  <a:pt x="0" y="42"/>
                  <a:pt x="0" y="3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8C9B0">
              <a:alpha val="60000"/>
            </a:srgbClr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66775" y="3609975"/>
            <a:ext cx="22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7FDDC7"/>
                </a:solidFill>
                <a:latin typeface="Consolas"/>
                <a:ea typeface="Consolas"/>
              </a:rPr>
              <a:t>L5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228725" y="358140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6"/>
                </a:solidFill>
                <a:latin typeface="Microsoft YaHei"/>
                <a:ea typeface="Microsoft YaHei"/>
              </a:rPr>
              <a:t>特征池兜底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238375" y="3600450"/>
            <a:ext cx="2838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前面全部沉默时，由综合特征池给结论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714375" y="5686425"/>
            <a:ext cx="6305550" cy="523875"/>
          </a:xfrm>
          <a:prstGeom prst="roundRect">
            <a:avLst>
              <a:gd name="adj" fmla="val 14545"/>
            </a:avLst>
          </a:prstGeom>
          <a:solidFill>
            <a:srgbClr val="F2B33D">
              <a:alpha val="10000"/>
            </a:srgbClr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714375" y="5686425"/>
            <a:ext cx="6305550" cy="523875"/>
          </a:xfrm>
          <a:custGeom>
            <a:pathLst>
              <a:path w="662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B33D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85825" y="5800725"/>
            <a:ext cx="59340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弱信号让位：刚过死区的弱特征不再压住后面信号更强的特征；但让位只做确认，不做翻案。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315200" y="1219200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48C9B0"/>
                </a:solidFill>
                <a:latin typeface="Microsoft YaHei"/>
                <a:ea typeface="Microsoft YaHei"/>
              </a:rPr>
              <a:t>TRACEABILITY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315200" y="1543050"/>
            <a:ext cx="419100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6"/>
                </a:solidFill>
                <a:latin typeface="Microsoft YaHei"/>
                <a:ea typeface="Microsoft YaHei"/>
              </a:rPr>
              <a:t>头尾判不准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6"/>
                </a:solidFill>
                <a:latin typeface="Microsoft YaHei"/>
                <a:ea typeface="Microsoft YaHei"/>
              </a:rPr>
              <a:t>前面全白做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7315200" y="2600325"/>
            <a:ext cx="457200" cy="28575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315200" y="2800350"/>
            <a:ext cx="41910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75">
                <a:solidFill>
                  <a:srgbClr val="8FA9C4"/>
                </a:solidFill>
                <a:latin typeface="Microsoft YaHei"/>
                <a:ea typeface="Microsoft YaHei"/>
              </a:rPr>
              <a:t>没有任何单一特征在所有产品上都成立。系统因此按固定优先级级联，先出死区者发言，并用两组指标把判定质量暴露出来。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7315200" y="4238625"/>
            <a:ext cx="4191000" cy="790575"/>
          </a:xfrm>
          <a:prstGeom prst="roundRect">
            <a:avLst>
              <a:gd name="adj" fmla="val 12048"/>
            </a:avLst>
          </a:prstGeom>
          <a:solidFill>
            <a:srgbClr val="12293F">
              <a:alpha val="85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467600" y="4371975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2B33D"/>
                </a:solidFill>
                <a:latin typeface="Microsoft YaHei"/>
                <a:ea typeface="Microsoft YaHei"/>
              </a:rPr>
              <a:t xml:space="preserve">QR </a:t>
            </a:r>
            <a:r>
              <a:rPr lang="zh-CN" sz="1200" b="1">
                <a:solidFill>
                  <a:srgbClr val="F2B33D"/>
                </a:solidFill>
                <a:latin typeface="Microsoft YaHei"/>
                <a:ea typeface="Microsoft YaHei"/>
              </a:rPr>
              <a:t>一致率</a:t>
            </a:r>
            <a:r>
              <a:rPr lang="en-US" sz="1200" b="1">
                <a:solidFill>
                  <a:srgbClr val="F2B33D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 b="1">
                <a:solidFill>
                  <a:srgbClr val="F2B33D"/>
                </a:solidFill>
                <a:latin typeface="Microsoft YaHei"/>
                <a:ea typeface="Microsoft YaHei"/>
              </a:rPr>
              <a:t>判得对不对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467600" y="4619625"/>
            <a:ext cx="3886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对照二维码真值衡量每个特征的准确度，样本不足会明确标注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7315200" y="5143500"/>
            <a:ext cx="4191000" cy="1066800"/>
          </a:xfrm>
          <a:prstGeom prst="roundRect">
            <a:avLst>
              <a:gd name="adj" fmla="val 8929"/>
            </a:avLst>
          </a:prstGeom>
          <a:solidFill>
            <a:srgbClr val="12293F">
              <a:alpha val="85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467600" y="5276850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7FDDC7"/>
                </a:solidFill>
                <a:latin typeface="Microsoft YaHei"/>
                <a:ea typeface="Microsoft YaHei"/>
              </a:rPr>
              <a:t>特征分歧度</a:t>
            </a:r>
            <a:r>
              <a:rPr lang="en-US" sz="1200" b="1">
                <a:solidFill>
                  <a:srgbClr val="7FDDC7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 b="1">
                <a:solidFill>
                  <a:srgbClr val="7FDDC7"/>
                </a:solidFill>
                <a:latin typeface="Microsoft YaHei"/>
                <a:ea typeface="Microsoft YaHei"/>
              </a:rPr>
              <a:t>判得稳不稳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467600" y="5524500"/>
            <a:ext cx="3886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完全不依赖真值，无码产品同样可评估，把不可见的错误变成可诊断的数据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4A6480"/>
                </a:solidFill>
                <a:latin typeface="Microsoft YaHei"/>
                <a:ea typeface="Microsoft YaHei"/>
              </a:rPr>
              <a:t xml:space="preserve">CAV </a:t>
            </a:r>
            <a:r>
              <a:rPr lang="zh-CN" sz="1050" spc="75">
                <a:solidFill>
                  <a:srgbClr val="4A6480"/>
                </a:solidFill>
                <a:latin typeface="Microsoft YaHei"/>
                <a:ea typeface="Microsoft YaHei"/>
              </a:rPr>
              <a:t>物码绑定视觉系统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049000" y="6324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6480"/>
                </a:solidFill>
                <a:latin typeface="Microsoft YaHei"/>
                <a:ea typeface="Microsoft YaHei"/>
              </a:rPr>
              <a:t>10 / 16</a:t>
            </a:r>
            <a:endParaRPr/>
          </a:p>
        </p:txBody>
      </p:sp>
      <p:pic>
        <p:nvPicPr>
          <p:cNvPr id="62" name=""/>
          <p:cNvPicPr>
            <a:picLocks noChangeAspect="1"/>
          </p:cNvPicPr>
          <p:nvPr/>
        </p:nvPicPr>
        <p:blipFill>
          <a:blip r:embed="rId1">
            <a:alphaModFix amt="9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287000" y="4953000"/>
            <a:ext cx="1905000" cy="1905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3" name="" descr="&lt;Slide style={{ width: 1280, height: 720, background: '#0B1B2B', position: 'relative', overflow: 'hidden', padding: 0 }}&gt;&#10;    &lt;Box style={{ position: 'absolute', right: 0, top: 0, width: 520, height: 720 }}&gt;&#10;        &lt;svg width='520' height='720' viewBox='0 0 520 720'&gt;&#10;            &lt;path d='M150 0 L520 0 L520 720 L20 720 Z' fill='#12293F' /&gt;&#10;            &lt;path d='M248 0 L286 0 L116 720 L78 720 Z' fill='rgba(46,127,224,0.45)' /&gt;&#10;            &lt;path d='M336 0 L350 0 L180 720 L166 720 Z' fill='rgba(72,201,176,0.35)' /&gt;&#10;            &lt;path d='M406 0 L414 0 L244 720 L236 720 Z' fill='rgba(242,179,61,0.30)' /&gt;&#10;            &lt;circle cx='470' cy='300' r='210' fill='none' stroke='rgba(46,127,224,0.30)' strokeWidth='1.5' /&gt;&#10;            &lt;circle cx='470' cy='300' r='150' fill='none' stroke='rgba(46,127,224,0.22)' strokeWidth='1.5' /&gt;&#10;            &lt;circle cx='470' cy='300' r='92' fill='none' stroke='rgba(72,201,176,0.22)' strokeWidth='1.5' /&gt;&#10;        &lt;/svg&gt;&#10;    &lt;/Box&gt;&#10;    &lt;Box style={{ position: 'absolute', left: 0, top: 0, width: 640, height: 720, background: 'linear-gradient(90deg, rgba(11,27,43,1) 0%, rgba(11,27,43,0.92) 60%, rgba(11,27,43,0) 100%)' }} /&gt;&#10;&#10;    &lt;Box style={{ position: 'relative', zIndex: 1, height: 720, padding: '150px 96px 0' }}&gt;&#10;        &lt;Text style={{ fontSize: 118, fontWeight: 'bold', fontFamily: 'Consolas', lineHeight: 1, color: '#2E7FE0' }}&gt;03&lt;/Text&gt;&#10;        &lt;Text style={{ fontSize: 16, color: '#48C9B0', letterSpacing: 4, fontWeight: 'bold', marginTop: 34 }}&gt;SECTION 03&lt;/Text&gt;&#10;        &lt;Text style={{ fontSize: 66, fontWeight: 'bold', color: '#E8EEF6', lineHeight: 1.1, letterSpacing: 3, marginTop: 16 }}&gt;关键指标与工程实证&lt;/Text&gt;&#10;        &lt;Box style={{ width: 56, height: 4, background: '#F2B33D', marginTop: 30, marginBottom: 28 }} /&gt;&#10;        &lt;Text style={{ fontSize: 22, color: '#8FA9C4', lineHeight: 1.7, width: 620 }}&gt;&#10;            不讲概念，只讲产线上跑出来的数。&#10;        &lt;/Text&gt;&#10;    &lt;/Box&gt;&#10;&#10;    &lt;Box style={{ position: 'absolute', left: 96, bottom: 88, flexDirection: 'row', alignItems: 'center', gap: 10 }}&gt;&#10;        &lt;Box style={{ width: 20, height: 4, borderRadius: 2, background: 'rgba(232,238,246,0.18)' }} /&gt;&#10;        &lt;Box style={{ width: 20, height: 4, borderRadius: 2, background: 'rgba(232,238,246,0.18)' }} /&gt;&#10;        &lt;Box style={{ width: 56, height: 4, borderRadius: 2, background: '#2E7FE0' }} /&gt;&#10;        &lt;Box style={{ width: 20, height: 4, borderRadius: 2, background: 'rgba(232,238,246,0.18)' }} /&gt;&#10;        &lt;Text style={{ fontSize: 14, color: '#4A6480', letterSpacing: 2, marginLeft: 12 }}&gt;3 / 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pic>
        <p:nvPicPr>
          <p:cNvPr id="65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0" y="0"/>
            <a:ext cx="4953000" cy="6858000"/>
          </a:xfrm>
          <a:prstGeom prst="rect">
            <a:avLst/>
          </a:prstGeom>
          <a:ln/>
        </p:spPr>
      </p:pic>
      <p:sp>
        <p:nvSpPr>
          <p:cNvPr id="66" name=""/>
          <p:cNvSpPr/>
          <p:nvPr/>
        </p:nvSpPr>
        <p:spPr>
          <a:xfrm rot="0" flipH="0" flipV="0">
            <a:off x="0" y="0"/>
            <a:ext cx="6096000" cy="6858000"/>
          </a:xfrm>
          <a:prstGeom prst="rect">
            <a:avLst/>
          </a:prstGeom>
          <a:gradFill>
            <a:gsLst>
              <a:gs pos="0">
                <a:srgbClr val="0B1B2B">
                  <a:alpha val="100000"/>
                </a:srgbClr>
              </a:gs>
              <a:gs pos="60000">
                <a:srgbClr val="0B1B2B">
                  <a:alpha val="92000"/>
                </a:srgbClr>
              </a:gs>
              <a:gs pos="100000">
                <a:srgbClr val="0B1B2B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914400" y="5924550"/>
            <a:ext cx="190500" cy="38100"/>
          </a:xfrm>
          <a:prstGeom prst="roundRect">
            <a:avLst>
              <a:gd name="adj" fmla="val 50000"/>
            </a:avLst>
          </a:prstGeom>
          <a:solidFill>
            <a:srgbClr val="E8EEF6">
              <a:alpha val="18000"/>
            </a:srgbClr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1200150" y="5924550"/>
            <a:ext cx="190500" cy="38100"/>
          </a:xfrm>
          <a:prstGeom prst="roundRect">
            <a:avLst>
              <a:gd name="adj" fmla="val 50000"/>
            </a:avLst>
          </a:prstGeom>
          <a:solidFill>
            <a:srgbClr val="E8EEF6">
              <a:alpha val="18000"/>
            </a:srgbClr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1485900" y="59245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2114550" y="5924550"/>
            <a:ext cx="190500" cy="38100"/>
          </a:xfrm>
          <a:prstGeom prst="roundRect">
            <a:avLst>
              <a:gd name="adj" fmla="val 50000"/>
            </a:avLst>
          </a:prstGeom>
          <a:solidFill>
            <a:srgbClr val="E8EEF6">
              <a:alpha val="18000"/>
            </a:srgbClr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2514600" y="585787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4A6480"/>
                </a:solidFill>
                <a:latin typeface="Microsoft YaHei"/>
                <a:ea typeface="Microsoft YaHei"/>
              </a:rPr>
              <a:t>3 / 4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14400" y="1428750"/>
            <a:ext cx="10363200" cy="1352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850" b="1">
                <a:solidFill>
                  <a:srgbClr val="2E7FE0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14400" y="310515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48C9B0"/>
                </a:solidFill>
                <a:latin typeface="Microsoft YaHei"/>
                <a:ea typeface="Microsoft YaHei"/>
              </a:rPr>
              <a:t>SECTION 03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914400" y="3448050"/>
            <a:ext cx="10363200" cy="8382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950" b="1" spc="225">
                <a:solidFill>
                  <a:srgbClr val="E8EEF6"/>
                </a:solidFill>
                <a:latin typeface="Microsoft YaHei"/>
                <a:ea typeface="Microsoft YaHei"/>
              </a:rPr>
              <a:t>关键指标与工程实证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914400" y="4572000"/>
            <a:ext cx="533400" cy="38100"/>
          </a:xfrm>
          <a:prstGeom prst="rect">
            <a:avLst/>
          </a:prstGeom>
          <a:solidFill>
            <a:srgbClr val="F2B33D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914400" y="4876800"/>
            <a:ext cx="59055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8FA9C4"/>
                </a:solidFill>
                <a:latin typeface="Microsoft YaHei"/>
                <a:ea typeface="Microsoft YaHei"/>
              </a:rPr>
              <a:t>不讲概念，只讲产线上跑出来的数。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c="http://schemas.openxmlformats.org/drawingml/2006/chart" xmlns:r="http://schemas.openxmlformats.org/officeDocument/2006/relationships" xmlns:mc="http://schemas.openxmlformats.org/markup-compatibility/2006" mc:Ignorable="asvg">
  <p:cSld>
    <p:spTree>
      <p:nvGrpSpPr>
        <p:cNvPr id="77" name="" descr="&lt;Slide style={{ width: 1280, height: 720, background: '#0B1B2B', padding: '28px 72px', position: 'relative', overflow: 'hidden' }}&gt;&#10;    &lt;Box style={{ position: 'absolute', right: 0, bottom: 0, opacity: 0.09 }}&gt;&#10;        &lt;svg width='200' height='200' viewBox='0 0 200 200'&gt;&#10;            &lt;circle cx='200' cy='0' r='196' fill='none' stroke='#2E7FE0' strokeWidth='2' /&gt;&#10;            &lt;circle cx='200' cy='0' r='150' fill='none' stroke='#2E7FE0' strokeWidth='1.5' /&gt;&#10;            &lt;circle cx='200' cy='0' r='104' fill='none' stroke='#48C9B0' strokeWidth='1.5' /&gt;&#10;        &lt;/svg&gt;&#10;    &lt;/Box&gt;&#10;&#10;    &lt;Box style={{ height: 100, flexDirection: 'row', alignItems: 'center', gap: 18 }}&gt;&#10;        &lt;Box style={{ width: 4, height: 38, background: '#2E7FE0' }} /&gt;&#10;        &lt;Text style={{ fontSize: 38, fontWeight: 'bold', color: '#E8EEF6', letterSpacing: 1 }}&gt;跑得动、算得准、查得到&lt;/Text&gt;&#10;    &lt;/Box&gt;&#10;&#10;    &lt;Box style={{ height: 524, flexDirection: 'row', gap: 34 }}&gt;&#10;&#10;        &lt;Box style={{ flex: 1, justifyContent: 'space-between' }}&gt;&#10;            &lt;Box&gt;&#10;                &lt;Text style={{ fontSize: 15, color: '#48C9B0', letterSpacing: 3, fontWeight: 'bold' }}&gt;MEASURED ON LINE&lt;/Text&gt;&#10;                &lt;Text style={{ fontSize: 20, fontWeight: 'bold', color: '#E8EEF6', marginTop: 12 }}&gt;单帧端到端检测耗时 · 实测样本&lt;/Text&gt;&#10;            &lt;/Box&gt;&#10;            &lt;Chart&#10;                style={{ width: '100%', height: 372 }}&#10;                chartType='barChart'&#10;                barDirection='column'&#10;                title='单位：毫秒（ms）'&#10;                titleColor='#8FA9C4'&#10;                showLegend={false}&#10;                showDataLabels={true}&#10;                dataLabelColor='#F2B33D'&#10;                axisColor='#5B7590'&#10;                colors={['#2E7FE0']}&#10;                background='#12293F'&#10;                data={[&#10;                    ['样本', '检测耗时'],&#10;                    ['S1', 307],&#10;                    ['S2', 320],&#10;                    ['S3', 325],&#10;                    ['S4', 332],&#10;                    ['S5', 337],&#10;                    ['S6', 379],&#10;                    ['S7', 394],&#10;                    ['S8', 436],&#10;                    ['S9', 501],&#10;                ]}&#10;            /&gt;&#10;            &lt;Box style={{ padding: '12px 18px', borderRadius: 8, background: 'rgba(242,179,61,0.10)', borderLeft: '3px solid #F2B33D' }}&gt;&#10;                &lt;Text style={{ fontSize: 15, color: '#C6D6E6', lineHeight: 1.7 }}&gt;&#10;                    样本全部落在亚秒级区间，节拍上限由机械动作决定，视觉不再是瓶颈。&#10;                &lt;/Text&gt;&#10;            &lt;/Box&gt;&#10;        &lt;/Box&gt;&#10;&#10;        &lt;Box style={{ width: 400, justifyContent: 'space-between' }}&gt;&#10;            &lt;Box&gt;&#10;                &lt;Text style={{ fontSize: 15, color: '#48C9B0', letterSpacing: 3, fontWeight: 'bold' }}&gt;EVIDENCE&lt;/Text&gt;&#10;                &lt;Text style={{ fontSize: 22, fontWeight: 'bold', color: '#E8EEF6', marginTop: 12 }}&gt;三个可核对的事实&lt;/Text&gt;&#10;                &lt;Box style={{ marginTop: 18 }}&gt;&#10;                    &lt;Box style={{ flexDirection: 'row', alignItems: 'flex-end', gap: 14, paddingBottom: 10, marginBottom: 10, borderBottom: '1px solid rgba(232,238,246,0.10)' }}&gt;&#10;                        &lt;Text style={{ fontSize: 36, fontFamily: 'Consolas', fontWeight: 'bold', color: '#F2B33D', lineHeight: 1, width: 116 }}&gt;46%&lt;/Text&gt;&#10;                        &lt;Text style={{ fontSize: 15, color: '#8FA9C4', lineHeight: 1.55, flex: 1 }}&gt;头尾判定两轮优化后的累计提速&lt;/Text&gt;&#10;                    &lt;/Box&gt;&#10;                    &lt;Box style={{ flexDirection: 'row', alignItems: 'flex-end', gap: 14, paddingBottom: 10, marginBottom: 10, borderBottom: '1px solid rgba(232,238,246,0.10)' }}&gt;&#10;                        &lt;Text style={{ fontSize: 36, fontFamily: 'Consolas', fontWeight: 'bold', color: '#F2B33D', lineHeight: 1, width: 116 }}&gt;1257&lt;/Text&gt;&#10;                        &lt;Text style={{ fontSize: 15, color: '#8FA9C4', lineHeight: 1.55, flex: 1 }}&gt;条自动化测试用例，覆盖授权、检测、相机与标定&lt;/Text&gt;&#10;                    &lt;/Box&gt;&#10;                    &lt;Box style={{ flexDirection: 'row', alignItems: 'flex-end', gap: 14, paddingBottom: 10 }}&gt;&#10;                        &lt;Text style={{ fontSize: 36, fontFamily: 'Consolas', fontWeight: 'bold', color: '#F2B33D', lineHeight: 1, width: 116 }}&gt;15&lt;/Text&gt;&#10;                        &lt;Text style={{ fontSize: 15, color: '#8FA9C4', lineHeight: 1.55, flex: 1 }}&gt;个工程模块，授权与坐标标定均为独立可复用库&lt;/Text&gt;&#10;                    &lt;/Box&gt;&#10;                &lt;/Box&gt;&#10;            &lt;/Box&gt;&#10;            &lt;Image src='assets/data-page.png' style={{ width: 400, height: 228, objectFit: 'contain', borderRadius: 8, border: '1px solid rgba(232,238,246,0.12)' }} /&gt;&#10;        &lt;/Box&gt;&#10;&#10;    &lt;/Box&gt;&#10;&#10;    &lt;Box style={{ height: 40, flexDirection: 'row', alignItems: 'center', justifyContent: 'space-between' }}&gt;&#10;        &lt;Text style={{ fontSize: 14, color: '#4A6480', letterSpacing: 1 }}&gt;CAV 物码绑定视觉系统&lt;/Text&gt;&#10;        &lt;Text style={{ fontSize: 14, color: '#4A6480' }}&gt;1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685800" y="561975"/>
            <a:ext cx="38100" cy="361950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95350" y="523875"/>
            <a:ext cx="40862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75">
                <a:solidFill>
                  <a:srgbClr val="E8EEF6"/>
                </a:solidFill>
                <a:latin typeface="Microsoft YaHei"/>
                <a:ea typeface="Microsoft YaHei"/>
              </a:rPr>
              <a:t>跑得动、算得准、查得到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85800" y="1219200"/>
            <a:ext cx="6686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48C9B0"/>
                </a:solidFill>
                <a:latin typeface="Microsoft YaHei"/>
                <a:ea typeface="Microsoft YaHei"/>
              </a:rPr>
              <a:t>MEASURED ON LINE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85800" y="1504950"/>
            <a:ext cx="6686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6"/>
                </a:solidFill>
                <a:latin typeface="Microsoft YaHei"/>
                <a:ea typeface="Microsoft YaHei"/>
              </a:rPr>
              <a:t>单帧端到端检测耗时</a:t>
            </a:r>
            <a:r>
              <a:rPr lang="en-US" sz="1500" b="1">
                <a:solidFill>
                  <a:srgbClr val="E8EEF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E8EEF6"/>
                </a:solidFill>
                <a:latin typeface="Microsoft YaHei"/>
                <a:ea typeface="Microsoft YaHei"/>
              </a:rPr>
              <a:t>实测样本</a:t>
            </a:r>
            <a:endParaRPr/>
          </a:p>
        </p:txBody>
      </p:sp>
      <p:graphicFrame>
        <p:nvGraphicFramePr>
          <p:cNvPr id="83" name="83"/>
          <p:cNvGraphicFramePr/>
          <p:nvPr/>
        </p:nvGraphicFramePr>
        <p:xfrm rot="0" flipH="0" flipV="0">
          <a:off x="685800" y="1943100"/>
          <a:ext cx="6686550" cy="35433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84" name=""/>
          <p:cNvSpPr/>
          <p:nvPr/>
        </p:nvSpPr>
        <p:spPr>
          <a:xfrm rot="0" flipH="0" flipV="0">
            <a:off x="714375" y="5686425"/>
            <a:ext cx="6686550" cy="523875"/>
          </a:xfrm>
          <a:prstGeom prst="roundRect">
            <a:avLst>
              <a:gd name="adj" fmla="val 14545"/>
            </a:avLst>
          </a:prstGeom>
          <a:solidFill>
            <a:srgbClr val="F2B33D">
              <a:alpha val="10000"/>
            </a:srgbClr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714375" y="5686425"/>
            <a:ext cx="6686550" cy="523875"/>
          </a:xfrm>
          <a:custGeom>
            <a:pathLst>
              <a:path w="702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2B33D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85825" y="5800725"/>
            <a:ext cx="63150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样本全部落在亚秒级区间，节拍上限由机械动作决定，视觉不再是瓶颈。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696200" y="121920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48C9B0"/>
                </a:solidFill>
                <a:latin typeface="Microsoft YaHei"/>
                <a:ea typeface="Microsoft YaHei"/>
              </a:rPr>
              <a:t>EVIDENCE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696200" y="1504950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6"/>
                </a:solidFill>
                <a:latin typeface="Microsoft YaHei"/>
                <a:ea typeface="Microsoft YaHei"/>
              </a:rPr>
              <a:t>三个可核对的事实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7696200" y="1933575"/>
            <a:ext cx="3810000" cy="533400"/>
          </a:xfrm>
          <a:custGeom>
            <a:pathLst>
              <a:path w="400" h="56">
                <a:moveTo>
                  <a:pt x="0" y="55"/>
                </a:moveTo>
                <a:lnTo>
                  <a:pt x="400" y="55"/>
                </a:lnTo>
                <a:lnTo>
                  <a:pt x="40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6">
              <a:alpha val="10000"/>
            </a:srgbClr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696200" y="1933575"/>
            <a:ext cx="1104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2B33D"/>
                </a:solidFill>
                <a:latin typeface="Consolas"/>
                <a:ea typeface="Consolas"/>
              </a:rPr>
              <a:t>46%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934450" y="2085975"/>
            <a:ext cx="2571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头尾判定两轮优化后的累计提速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7696200" y="2552700"/>
            <a:ext cx="3810000" cy="647700"/>
          </a:xfrm>
          <a:custGeom>
            <a:pathLst>
              <a:path w="400" h="68">
                <a:moveTo>
                  <a:pt x="0" y="67"/>
                </a:moveTo>
                <a:lnTo>
                  <a:pt x="400" y="67"/>
                </a:lnTo>
                <a:lnTo>
                  <a:pt x="400" y="68"/>
                </a:lnTo>
                <a:lnTo>
                  <a:pt x="0" y="68"/>
                </a:lnTo>
                <a:close/>
              </a:path>
            </a:pathLst>
          </a:custGeom>
          <a:solidFill>
            <a:srgbClr val="E8EEF6">
              <a:alpha val="10000"/>
            </a:srgbClr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696200" y="2667000"/>
            <a:ext cx="1104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2B33D"/>
                </a:solidFill>
                <a:latin typeface="Consolas"/>
                <a:ea typeface="Consolas"/>
              </a:rPr>
              <a:t>1257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934450" y="2552700"/>
            <a:ext cx="2571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条自动化测试用例，覆盖授权、检测、相机与标定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696200" y="3400425"/>
            <a:ext cx="1104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2B33D"/>
                </a:solidFill>
                <a:latin typeface="Consolas"/>
                <a:ea typeface="Consolas"/>
              </a:rPr>
              <a:t>15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934450" y="3286125"/>
            <a:ext cx="2571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个工程模块，授权与坐标标定均为独立可复用库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7696200" y="4038600"/>
            <a:ext cx="3810000" cy="2171700"/>
          </a:xfrm>
          <a:prstGeom prst="rect">
            <a:avLst/>
          </a:prstGeom>
          <a:ln w="12700">
            <a:solidFill>
              <a:srgbClr val="E8EEF6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8" name=""/>
          <p:cNvPicPr>
            <a:picLocks noChangeAspect="1"/>
          </p:cNvPicPr>
          <p:nvPr/>
        </p:nvPicPr>
        <p:blipFill>
          <a:blip r:embed="rId2"/>
          <a:srcRect l="0" t="5577" r="0" b="5577"/>
          <a:stretch>
            <a:fillRect/>
          </a:stretch>
        </p:blipFill>
        <p:spPr>
          <a:xfrm rot="0" flipH="0" flipV="0">
            <a:off x="7696200" y="4038600"/>
            <a:ext cx="3810000" cy="2171700"/>
          </a:xfrm>
          <a:prstGeom prst="roundRect">
            <a:avLst>
              <a:gd name="adj" fmla="val 3509"/>
            </a:avLst>
          </a:prstGeom>
          <a:ln/>
        </p:spPr>
      </p:pic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4A6480"/>
                </a:solidFill>
                <a:latin typeface="Microsoft YaHei"/>
                <a:ea typeface="Microsoft YaHei"/>
              </a:rPr>
              <a:t xml:space="preserve">CAV </a:t>
            </a:r>
            <a:r>
              <a:rPr lang="zh-CN" sz="1050" spc="75">
                <a:solidFill>
                  <a:srgbClr val="4A6480"/>
                </a:solidFill>
                <a:latin typeface="Microsoft YaHei"/>
                <a:ea typeface="Microsoft YaHei"/>
              </a:rPr>
              <a:t>物码绑定视觉系统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049000" y="6324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6480"/>
                </a:solidFill>
                <a:latin typeface="Microsoft YaHei"/>
                <a:ea typeface="Microsoft YaHei"/>
              </a:rPr>
              <a:t>12 / 16</a:t>
            </a:r>
            <a:endParaRPr/>
          </a:p>
        </p:txBody>
      </p:sp>
      <p:pic>
        <p:nvPicPr>
          <p:cNvPr id="101" name=""/>
          <p:cNvPicPr>
            <a:picLocks noChangeAspect="1"/>
          </p:cNvPicPr>
          <p:nvPr/>
        </p:nvPicPr>
        <p:blipFill>
          <a:blip r:embed="rId3">
            <a:alphaModFix amt="9000"/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287000" y="4953000"/>
            <a:ext cx="1905000" cy="1905000"/>
          </a:xfrm>
          <a:prstGeom prst="rect">
            <a:avLst/>
          </a:prstGeom>
          <a:ln/>
        </p:spPr>
      </p:pic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2" name="" descr="&lt;Slide style={{ width: 1280, height: 720, background: '#0B1B2B', position: 'relative', overflow: 'hidden', padding: 0 }}&gt;&#10;    &lt;Box style={{ position: 'absolute', right: 0, top: 0, width: 520, height: 720 }}&gt;&#10;        &lt;svg width='520' height='720' viewBox='0 0 520 720'&gt;&#10;            &lt;path d='M150 0 L520 0 L520 720 L20 720 Z' fill='#12293F' /&gt;&#10;            &lt;path d='M248 0 L286 0 L116 720 L78 720 Z' fill='rgba(46,127,224,0.45)' /&gt;&#10;            &lt;path d='M336 0 L350 0 L180 720 L166 720 Z' fill='rgba(72,201,176,0.35)' /&gt;&#10;            &lt;path d='M406 0 L414 0 L244 720 L236 720 Z' fill='rgba(242,179,61,0.30)' /&gt;&#10;            &lt;circle cx='470' cy='300' r='210' fill='none' stroke='rgba(46,127,224,0.30)' strokeWidth='1.5' /&gt;&#10;            &lt;circle cx='470' cy='300' r='150' fill='none' stroke='rgba(46,127,224,0.22)' strokeWidth='1.5' /&gt;&#10;            &lt;circle cx='470' cy='300' r='92' fill='none' stroke='rgba(72,201,176,0.22)' strokeWidth='1.5' /&gt;&#10;        &lt;/svg&gt;&#10;    &lt;/Box&gt;&#10;    &lt;Box style={{ position: 'absolute', left: 0, top: 0, width: 640, height: 720, background: 'linear-gradient(90deg, rgba(11,27,43,1) 0%, rgba(11,27,43,0.92) 60%, rgba(11,27,43,0) 100%)' }} /&gt;&#10;&#10;    &lt;Box style={{ position: 'relative', zIndex: 1, height: 720, padding: '150px 96px 0' }}&gt;&#10;        &lt;Text style={{ fontSize: 118, fontWeight: 'bold', fontFamily: 'Consolas', lineHeight: 1, color: '#2E7FE0' }}&gt;04&lt;/Text&gt;&#10;        &lt;Text style={{ fontSize: 16, color: '#48C9B0', letterSpacing: 4, fontWeight: 'bold', marginTop: 34 }}&gt;SECTION 04&lt;/Text&gt;&#10;        &lt;Text style={{ fontSize: 66, fontWeight: 'bold', color: '#E8EEF6', lineHeight: 1.1, letterSpacing: 3, marginTop: 16 }}&gt;部署形态与服务保障&lt;/Text&gt;&#10;        &lt;Box style={{ width: 56, height: 4, background: '#F2B33D', marginTop: 30, marginBottom: 28 }} /&gt;&#10;        &lt;Text style={{ fontSize: 22, color: '#8FA9C4', lineHeight: 1.7, width: 620 }}&gt;&#10;            一台工控机、一套离线包，装完就能跑。&#10;        &lt;/Text&gt;&#10;    &lt;/Box&gt;&#10;&#10;    &lt;Box style={{ position: 'absolute', left: 96, bottom: 88, flexDirection: 'row', alignItems: 'center', gap: 10 }}&gt;&#10;        &lt;Box style={{ width: 20, height: 4, borderRadius: 2, background: 'rgba(232,238,246,0.18)' }} /&gt;&#10;        &lt;Box style={{ width: 20, height: 4, borderRadius: 2, background: 'rgba(232,238,246,0.18)' }} /&gt;&#10;        &lt;Box style={{ width: 20, height: 4, borderRadius: 2, background: 'rgba(232,238,246,0.18)' }} /&gt;&#10;        &lt;Box style={{ width: 56, height: 4, borderRadius: 2, background: '#2E7FE0' }} /&gt;&#10;        &lt;Text style={{ fontSize: 14, color: '#4A6480', letterSpacing: 2, marginLeft: 12 }}&gt;4 / 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pic>
        <p:nvPicPr>
          <p:cNvPr id="104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0" y="0"/>
            <a:ext cx="4953000" cy="6858000"/>
          </a:xfrm>
          <a:prstGeom prst="rect">
            <a:avLst/>
          </a:prstGeom>
          <a:ln/>
        </p:spPr>
      </p:pic>
      <p:sp>
        <p:nvSpPr>
          <p:cNvPr id="105" name=""/>
          <p:cNvSpPr/>
          <p:nvPr/>
        </p:nvSpPr>
        <p:spPr>
          <a:xfrm rot="0" flipH="0" flipV="0">
            <a:off x="0" y="0"/>
            <a:ext cx="6096000" cy="6858000"/>
          </a:xfrm>
          <a:prstGeom prst="rect">
            <a:avLst/>
          </a:prstGeom>
          <a:gradFill>
            <a:gsLst>
              <a:gs pos="0">
                <a:srgbClr val="0B1B2B">
                  <a:alpha val="100000"/>
                </a:srgbClr>
              </a:gs>
              <a:gs pos="60000">
                <a:srgbClr val="0B1B2B">
                  <a:alpha val="92000"/>
                </a:srgbClr>
              </a:gs>
              <a:gs pos="100000">
                <a:srgbClr val="0B1B2B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914400" y="5924550"/>
            <a:ext cx="190500" cy="38100"/>
          </a:xfrm>
          <a:prstGeom prst="roundRect">
            <a:avLst>
              <a:gd name="adj" fmla="val 50000"/>
            </a:avLst>
          </a:prstGeom>
          <a:solidFill>
            <a:srgbClr val="E8EEF6">
              <a:alpha val="18000"/>
            </a:srgbClr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1200150" y="5924550"/>
            <a:ext cx="190500" cy="38100"/>
          </a:xfrm>
          <a:prstGeom prst="roundRect">
            <a:avLst>
              <a:gd name="adj" fmla="val 50000"/>
            </a:avLst>
          </a:prstGeom>
          <a:solidFill>
            <a:srgbClr val="E8EEF6">
              <a:alpha val="18000"/>
            </a:srgbClr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1485900" y="5924550"/>
            <a:ext cx="190500" cy="38100"/>
          </a:xfrm>
          <a:prstGeom prst="roundRect">
            <a:avLst>
              <a:gd name="adj" fmla="val 50000"/>
            </a:avLst>
          </a:prstGeom>
          <a:solidFill>
            <a:srgbClr val="E8EEF6">
              <a:alpha val="18000"/>
            </a:srgbClr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1771650" y="59245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2514600" y="585787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4A6480"/>
                </a:solidFill>
                <a:latin typeface="Microsoft YaHei"/>
                <a:ea typeface="Microsoft YaHei"/>
              </a:rPr>
              <a:t>4 / 4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914400" y="1428750"/>
            <a:ext cx="10363200" cy="1352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850" b="1">
                <a:solidFill>
                  <a:srgbClr val="2E7FE0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14400" y="310515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48C9B0"/>
                </a:solidFill>
                <a:latin typeface="Microsoft YaHei"/>
                <a:ea typeface="Microsoft YaHei"/>
              </a:rPr>
              <a:t>SECTION 04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14400" y="3448050"/>
            <a:ext cx="10363200" cy="8382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950" b="1" spc="225">
                <a:solidFill>
                  <a:srgbClr val="E8EEF6"/>
                </a:solidFill>
                <a:latin typeface="Microsoft YaHei"/>
                <a:ea typeface="Microsoft YaHei"/>
              </a:rPr>
              <a:t>部署形态与服务保障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914400" y="4572000"/>
            <a:ext cx="533400" cy="38100"/>
          </a:xfrm>
          <a:prstGeom prst="rect">
            <a:avLst/>
          </a:prstGeom>
          <a:solidFill>
            <a:srgbClr val="F2B33D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14400" y="4876800"/>
            <a:ext cx="59055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8FA9C4"/>
                </a:solidFill>
                <a:latin typeface="Microsoft YaHei"/>
                <a:ea typeface="Microsoft YaHei"/>
              </a:rPr>
              <a:t>一台工控机、一套离线包，装完就能跑。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6" name="" descr="&lt;Slide style={{ width: 1280, height: 720, background: '#0B1B2B', padding: '28px 72px', position: 'relative', overflow: 'hidden' }}&gt;&#10;    &lt;Box style={{ position: 'absolute', right: 0, bottom: 0, opacity: 0.09 }}&gt;&#10;        &lt;svg width='200' height='200' viewBox='0 0 200 200'&gt;&#10;            &lt;circle cx='200' cy='0' r='196' fill='none' stroke='#2E7FE0' strokeWidth='2' /&gt;&#10;            &lt;circle cx='200' cy='0' r='150' fill='none' stroke='#2E7FE0' strokeWidth='1.5' /&gt;&#10;            &lt;circle cx='200' cy='0' r='104' fill='none' stroke='#48C9B0' strokeWidth='1.5' /&gt;&#10;        &lt;/svg&gt;&#10;    &lt;/Box&gt;&#10;&#10;    &lt;Box style={{ height: 100, flexDirection: 'row', alignItems: 'center', gap: 18 }}&gt;&#10;        &lt;Box style={{ width: 4, height: 38, background: '#2E7FE0' }} /&gt;&#10;        &lt;Text style={{ fontSize: 38, fontWeight: 'bold', color: '#E8EEF6', letterSpacing: 1 }}&gt;一套离线可运行的完整交付&lt;/Text&gt;&#10;    &lt;/Box&gt;&#10;&#10;    &lt;Box style={{ height: 524 }}&gt;&#10;&#10;        &lt;Box style={{ height: 288, flexDirection: 'row', alignItems: 'center', justifyContent: 'center', gap: 14 }}&gt;&#10;            &lt;Box style={{ gap: 16 }}&gt;&#10;                &lt;Box style={{ width: 200, height: 98, padding: '14px 16px', borderRadius: 10, background: 'rgba(18,41,63,0.85)', border: '1px solid rgba(232,238,246,0.10)' }}&gt;&#10;                    &lt;Box style={{ flexDirection: 'row', alignItems: 'center', gap: 10 }}&gt;&#10;                        &lt;FAIcon name='camera' style={{ fill: '#7FB4EE', width: 20, height: 20 }} /&gt;&#10;                        &lt;Text style={{ fontSize: 17, fontWeight: 'bold', color: '#E8EEF6' }}&gt;工业相机&lt;/Text&gt;&#10;                    &lt;/Box&gt;&#10;                    &lt;Text style={{ fontSize: 14, color: '#8FA9C4', lineHeight: 1.5, marginTop: 10 }}&gt;硬触发取帧，失败自动重试&lt;/Text&gt;&#10;                &lt;/Box&gt;&#10;                &lt;Box style={{ width: 200, height: 98, padding: '14px 16px', borderRadius: 10, background: 'rgba(18,41,63,0.85)', border: '1px solid rgba(232,238,246,0.10)' }}&gt;&#10;                    &lt;Box style={{ flexDirection: 'row', alignItems: 'center', gap: 10 }}&gt;&#10;                        &lt;FAIcon name='barcode' style={{ fill: '#7FB4EE', width: 20, height: 20 }} /&gt;&#10;                        &lt;Text style={{ fontSize: 17, fontWeight: 'bold', color: '#E8EEF6' }}&gt;扫码枪&lt;/Text&gt;&#10;                    &lt;/Box&gt;&#10;                    &lt;Text style={{ fontSize: 14, color: '#8FA9C4', lineHeight: 1.5, marginTop: 10 }}&gt;与图像同帧给出条码结果&lt;/Text&gt;&#10;                &lt;/Box&gt;&#10;            &lt;/Box&gt;&#10;&#10;            &lt;Box style={{ width: 78, alignItems: 'center' }}&gt;&#10;                &lt;FAIcon name='arrow-right' style={{ fill: '#4A6480', width: 22, height: 22 }} /&gt;&#10;                &lt;Text style={{ fontSize: 12, color: '#5B7590', marginTop: 8, textAlign: 'center' }}&gt;本机直连&lt;/Text&gt;&#10;            &lt;/Box&gt;&#10;&#10;            &lt;Box style={{ width: 320, height: 212, padding: '20px 22px', borderRadius: 12, background: 'rgba(46,127,224,0.14)', border: '1px solid rgba(46,127,224,0.60)', justifyContent: 'space-between' }}&gt;&#10;                &lt;Box&gt;&#10;                    &lt;Text style={{ fontSize: 13, color: '#48C9B0', letterSpacing: 2, fontWeight: 'bold' }}&gt;ON-PREMISE&lt;/Text&gt;&#10;                    &lt;Text style={{ fontSize: 24, fontWeight: 'bold', color: '#E8EEF6', marginTop: 10 }}&gt;产线工控机&lt;/Text&gt;&#10;                    &lt;Text style={{ fontSize: 15, color: '#8FA9C4', lineHeight: 1.6, marginTop: 8 }}&gt;系统全部在本机运行，不依赖外网&lt;/Text&gt;&#10;                &lt;/Box&gt;&#10;                &lt;Box&gt;&#10;                    &lt;Box style={{ flexDirection: 'row', gap: 8, alignItems: 'flex-start', marginBottom: 7 }}&gt;&#10;                        &lt;Box style={{ width: 4, height: 4, borderRadius: 2, background: '#2E7FE0', marginTop: 8 }} /&gt;&#10;                        &lt;Text style={{ fontSize: 14, color: '#9FB4C9', lineHeight: 1.55 }}&gt;GPU 加速可选，缺失时自动逐级回退&lt;/Text&gt;&#10;                    &lt;/Box&gt;&#10;                    &lt;Box style={{ flexDirection: 'row', gap: 8, alignItems: 'flex-start', marginBottom: 7 }}&gt;&#10;                        &lt;Box style={{ width: 4, height: 4, borderRadius: 2, background: '#2E7FE0', marginTop: 8 }} /&gt;&#10;                        &lt;Text style={{ fontSize: 14, color: '#9FB4C9', lineHeight: 1.55 }}&gt;授权与检测数据全部本地存放&lt;/Text&gt;&#10;                    &lt;/Box&gt;&#10;                    &lt;Box style={{ flexDirection: 'row', gap: 8, alignItems: 'flex-start' }}&gt;&#10;                        &lt;Box style={{ width: 4, height: 4, borderRadius: 2, background: '#2E7FE0', marginTop: 8 }} /&gt;&#10;                        &lt;Text style={{ fontSize: 14, color: '#9FB4C9', lineHeight: 1.55 }}&gt;模型文件随包分发，路径固定&lt;/Text&gt;&#10;                    &lt;/Box&gt;&#10;                &lt;/Box&gt;&#10;            &lt;/Box&gt;&#10;&#10;            &lt;Box style={{ width: 78, alignItems: 'center' }}&gt;&#10;                &lt;FAIcon name='arrow-right' style={{ fill: '#4A6480', width: 22, height: 22 }} /&gt;&#10;                &lt;Text style={{ fontSize: 12, color: '#5B7590', marginTop: 8, textAlign: 'center' }}&gt;UDP 报文&lt;/Text&gt;&#10;            &lt;/Box&gt;&#10;&#10;            &lt;Box style={{ gap: 16 }}&gt;&#10;                &lt;Box style={{ width: 200, height: 98, padding: '14px 16px', borderRadius: 10, background: 'rgba(18,41,63,0.85)', border: '1px solid rgba(242,179,61,0.45)' }}&gt;&#10;                    &lt;Box style={{ flexDirection: 'row', alignItems: 'center', gap: 10 }}&gt;&#10;                        &lt;FAIcon name='robot' style={{ fill: '#F2B33D', width: 20, height: 20 }} /&gt;&#10;                        &lt;Text style={{ fontSize: 17, fontWeight: 'bold', color: '#E8EEF6' }}&gt;机器人&lt;/Text&gt;&#10;                    &lt;/Box&gt;&#10;                    &lt;Text style={{ fontSize: 14, color: '#8FA9C4', lineHeight: 1.5, marginTop: 10 }}&gt;按报文外推位置并打码&lt;/Text&gt;&#10;                &lt;/Box&gt;&#10;                &lt;Box style={{ width: 200, height: 98, padding: '14px 16px', borderRadius: 10, background: 'rgba(18,41,63,0.85)', border: '1px solid rgba(232,238,246,0.10)' }}&gt;&#10;                    &lt;Box style={{ flexDirection: 'row', alignItems: 'center', gap: 10 }}&gt;&#10;                        &lt;FAIcon name='mobile' style={{ fill: '#7FDDC7', width: 20, height: 20 }} /&gt;&#10;                        &lt;Text style={{ fontSize: 17, fontWeight: 'bold', color: '#E8EEF6' }}&gt;手机 / 平板&lt;/Text&gt;&#10;                    &lt;/Box&gt;&#10;                    &lt;Text style={{ fontSize: 14, color: '#8FA9C4', lineHeight: 1.5, marginTop: 10 }}&gt;浏览器即可查看运行状态&lt;/Text&gt;&#10;                &lt;/Box&gt;&#10;            &lt;/Box&gt;&#10;        &lt;/Box&gt;&#10;&#10;        &lt;Box style={{ height: 216, marginTop: 20, flexDirection: 'row', gap: 20 }}&gt;&#10;            &lt;Box style={{ flex: 1, padding: '16px 18px', borderRadius: 10, background: 'rgba(18,41,63,0.85)', border: '1px solid rgba(232,238,246,0.10)' }}&gt;&#10;                &lt;Box style={{ flexDirection: 'row', alignItems: 'center', gap: 10 }}&gt;&#10;                    &lt;FAIcon name='cog' style={{ fill: '#F2B33D', width: 18, height: 18 }} /&gt;&#10;                    &lt;Text style={{ fontSize: 18, fontWeight: 'bold', color: '#E8EEF6' }}&gt;安装与部署规范&lt;/Text&gt;&#10;                &lt;/Box&gt;&#10;                &lt;Text style={{ fontSize: 14, color: '#8FA9C4', lineHeight: 1.65, marginTop: 10 }}&gt;&#10;                    安装包与数据目录规范、本地端口占用说明、浏览器远程访问所需的地址与端口授权步骤、防火墙放行清单，逐条写明，现场按单执行即可。&#10;                &lt;/Text&gt;&#10;            &lt;/Box&gt;&#10;            &lt;Box style={{ flex: 1, padding: '16px 18px', borderRadius: 10, background: 'rgba(18,41,63,0.85)', border: '1px solid rgba(232,238,246,0.10)' }}&gt;&#10;                &lt;Box style={{ flexDirection: 'row', alignItems: 'center', gap: 10 }}&gt;&#10;                    &lt;FAIcon name='file-text' style={{ fill: '#F2B33D', width: 18, height: 18 }} /&gt;&#10;                    &lt;Text style={{ fontSize: 18, fontWeight: 'bold', color: '#E8EEF6' }}&gt;操作与维护文档&lt;/Text&gt;&#10;                &lt;/Box&gt;&#10;                &lt;Text style={{ fontSize: 14, color: '#8FA9C4', lineHeight: 1.65, marginTop: 10 }}&gt;&#10;                    系统操作手册、配方调试与参数维护说明、换配方作业的标准步骤模板，含前置条件、操作步骤与风险提示，换型不靠个人经验。&#10;                &lt;/Text&gt;&#10;            &lt;/Box&gt;&#10;            &lt;Box style={{ flex: 1, padding: '16px 18px', borderRadius: 10, background: 'rgba(18,41,63,0.85)', border: '1px solid rgba(232,238,246,0.10)' }}&gt;&#10;                &lt;Box style={{ flexDirection: 'row', alignItems: 'center', gap: 10 }}&gt;&#10;                    &lt;FAIcon name='shield' style={{ fill: '#F2B33D', width: 18, height: 18 }} /&gt;&#10;                    &lt;Text style={{ fontSize: 18, fontWeight: 'bold', color: '#E8EEF6' }}&gt;授权与数据安全&lt;/Text&gt;&#10;                &lt;/Box&gt;&#10;                &lt;Text style={{ fontSize: 14, color: '#8FA9C4', lineHeight: 1.65, marginTop: 10 }}&gt;&#10;                    授权与设备指纹绑定，支持限时授权；账号权限分级，切换配方与修改设置仅管理员可操作；检测记录与操作日志本地留存，便于审计核对。&#10;                &lt;/Text&gt;&#10;            &lt;/Box&gt;&#10;        &lt;/Box&gt;&#10;&#10;    &lt;/Box&gt;&#10;&#10;    &lt;Box style={{ height: 40, flexDirection: 'row', alignItems: 'center', justifyContent: 'space-between' }}&gt;&#10;        &lt;Text style={{ fontSize: 14, color: '#4A6480', letterSpacing: 1 }}&gt;CAV 物码绑定视觉系统&lt;/Text&gt;&#10;        &lt;Text style={{ fontSize: 14, color: '#4A6480' }}&gt;1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685800" y="561975"/>
            <a:ext cx="38100" cy="361950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95350" y="523875"/>
            <a:ext cx="44577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75">
                <a:solidFill>
                  <a:srgbClr val="E8EEF6"/>
                </a:solidFill>
                <a:latin typeface="Microsoft YaHei"/>
                <a:ea typeface="Microsoft YaHei"/>
              </a:rPr>
              <a:t>一套离线可运行的完整交付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1657350" y="1581150"/>
            <a:ext cx="1905000" cy="933450"/>
          </a:xfrm>
          <a:prstGeom prst="roundRect">
            <a:avLst>
              <a:gd name="adj" fmla="val 10204"/>
            </a:avLst>
          </a:prstGeom>
          <a:solidFill>
            <a:srgbClr val="12293F">
              <a:alpha val="85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1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809750" y="1724025"/>
            <a:ext cx="190500" cy="190500"/>
          </a:xfrm>
          <a:prstGeom prst="rect">
            <a:avLst/>
          </a:prstGeom>
          <a:ln/>
        </p:spPr>
      </p:pic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2095500" y="17145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6"/>
                </a:solidFill>
                <a:latin typeface="Microsoft YaHei"/>
                <a:ea typeface="Microsoft YaHei"/>
              </a:rPr>
              <a:t>工业相机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809750" y="2009775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FA9C4"/>
                </a:solidFill>
                <a:latin typeface="Microsoft YaHei"/>
                <a:ea typeface="Microsoft YaHei"/>
              </a:rPr>
              <a:t>硬触发取帧，失败自动重试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1657350" y="2667000"/>
            <a:ext cx="1905000" cy="933450"/>
          </a:xfrm>
          <a:prstGeom prst="roundRect">
            <a:avLst>
              <a:gd name="adj" fmla="val 10204"/>
            </a:avLst>
          </a:prstGeom>
          <a:solidFill>
            <a:srgbClr val="12293F">
              <a:alpha val="85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5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809750" y="2809875"/>
            <a:ext cx="190500" cy="190500"/>
          </a:xfrm>
          <a:prstGeom prst="rect">
            <a:avLst/>
          </a:prstGeom>
          <a:ln/>
        </p:spPr>
      </p:pic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2095500" y="28003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6"/>
                </a:solidFill>
                <a:latin typeface="Microsoft YaHei"/>
                <a:ea typeface="Microsoft YaHei"/>
              </a:rPr>
              <a:t>扫码枪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809750" y="3095625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FA9C4"/>
                </a:solidFill>
                <a:latin typeface="Microsoft YaHei"/>
                <a:ea typeface="Microsoft YaHei"/>
              </a:rPr>
              <a:t>与图像同帧给出条码结果</a:t>
            </a:r>
            <a:endParaRPr/>
          </a:p>
        </p:txBody>
      </p:sp>
      <p:pic>
        <p:nvPicPr>
          <p:cNvPr id="128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62400" y="2381250"/>
            <a:ext cx="209550" cy="209550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838575" y="2667000"/>
            <a:ext cx="457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B7590"/>
                </a:solidFill>
                <a:latin typeface="Microsoft YaHei"/>
                <a:ea typeface="Microsoft YaHei"/>
              </a:rPr>
              <a:t>本机直连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4572000" y="1581150"/>
            <a:ext cx="3048000" cy="2019300"/>
          </a:xfrm>
          <a:prstGeom prst="roundRect">
            <a:avLst>
              <a:gd name="adj" fmla="val 5660"/>
            </a:avLst>
          </a:prstGeom>
          <a:solidFill>
            <a:srgbClr val="2E7FE0">
              <a:alpha val="14000"/>
            </a:srgbClr>
          </a:solidFill>
          <a:ln w="12700">
            <a:solidFill>
              <a:srgbClr val="2E7FE0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781550" y="1771650"/>
            <a:ext cx="2628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48C9B0"/>
                </a:solidFill>
                <a:latin typeface="Microsoft YaHei"/>
                <a:ea typeface="Microsoft YaHei"/>
              </a:rPr>
              <a:t>ON-PREMISE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4781550" y="2019300"/>
            <a:ext cx="2628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6"/>
                </a:solidFill>
                <a:latin typeface="Microsoft YaHei"/>
                <a:ea typeface="Microsoft YaHei"/>
              </a:rPr>
              <a:t>产线工控机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781550" y="2371725"/>
            <a:ext cx="2628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系统全部在本机运行，不依赖外网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4781550" y="27241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895850" y="2647950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9FB4C9"/>
                </a:solidFill>
                <a:latin typeface="Microsoft YaHei"/>
                <a:ea typeface="Microsoft YaHei"/>
              </a:rPr>
              <a:t xml:space="preserve">GPU </a:t>
            </a:r>
            <a:r>
              <a:rPr lang="zh-CN" sz="1050">
                <a:solidFill>
                  <a:srgbClr val="9FB4C9"/>
                </a:solidFill>
                <a:latin typeface="Microsoft YaHei"/>
                <a:ea typeface="Microsoft YaHei"/>
              </a:rPr>
              <a:t>加速可选，缺失时自动逐级回退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781550" y="304800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895850" y="2971800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9FB4C9"/>
                </a:solidFill>
                <a:latin typeface="Microsoft YaHei"/>
                <a:ea typeface="Microsoft YaHei"/>
              </a:rPr>
              <a:t>授权与检测数据全部本地存放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4781550" y="33718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895850" y="3295650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9FB4C9"/>
                </a:solidFill>
                <a:latin typeface="Microsoft YaHei"/>
                <a:ea typeface="Microsoft YaHei"/>
              </a:rPr>
              <a:t>模型文件随包分发，路径固定</a:t>
            </a:r>
            <a:endParaRPr/>
          </a:p>
        </p:txBody>
      </p:sp>
      <p:pic>
        <p:nvPicPr>
          <p:cNvPr id="140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020050" y="2381250"/>
            <a:ext cx="209550" cy="209550"/>
          </a:xfrm>
          <a:prstGeom prst="rect">
            <a:avLst/>
          </a:prstGeom>
          <a:ln/>
        </p:spPr>
      </p:pic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877175" y="2667000"/>
            <a:ext cx="5048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5B7590"/>
                </a:solidFill>
                <a:latin typeface="Microsoft YaHei"/>
                <a:ea typeface="Microsoft YaHei"/>
              </a:rPr>
              <a:t xml:space="preserve">UDP </a:t>
            </a:r>
            <a:r>
              <a:rPr lang="zh-CN" sz="900">
                <a:solidFill>
                  <a:srgbClr val="5B7590"/>
                </a:solidFill>
                <a:latin typeface="Microsoft YaHei"/>
                <a:ea typeface="Microsoft YaHei"/>
              </a:rPr>
              <a:t>报文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8629650" y="1581150"/>
            <a:ext cx="1905000" cy="933450"/>
          </a:xfrm>
          <a:prstGeom prst="roundRect">
            <a:avLst>
              <a:gd name="adj" fmla="val 10204"/>
            </a:avLst>
          </a:prstGeom>
          <a:solidFill>
            <a:srgbClr val="12293F">
              <a:alpha val="85000"/>
            </a:srgbClr>
          </a:solidFill>
          <a:ln w="12700">
            <a:solidFill>
              <a:srgbClr val="F2B33D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3" name="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782050" y="1724025"/>
            <a:ext cx="190500" cy="190500"/>
          </a:xfrm>
          <a:prstGeom prst="rect">
            <a:avLst/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067800" y="17145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6"/>
                </a:solidFill>
                <a:latin typeface="Microsoft YaHei"/>
                <a:ea typeface="Microsoft YaHei"/>
              </a:rPr>
              <a:t>机器人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782050" y="2009775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FA9C4"/>
                </a:solidFill>
                <a:latin typeface="Microsoft YaHei"/>
                <a:ea typeface="Microsoft YaHei"/>
              </a:rPr>
              <a:t>按报文外推位置并打码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8629650" y="2667000"/>
            <a:ext cx="1905000" cy="933450"/>
          </a:xfrm>
          <a:prstGeom prst="roundRect">
            <a:avLst>
              <a:gd name="adj" fmla="val 10204"/>
            </a:avLst>
          </a:prstGeom>
          <a:solidFill>
            <a:srgbClr val="12293F">
              <a:alpha val="85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7" name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782050" y="2809875"/>
            <a:ext cx="190500" cy="190500"/>
          </a:xfrm>
          <a:prstGeom prst="rect">
            <a:avLst/>
          </a:prstGeom>
          <a:ln/>
        </p:spPr>
      </p:pic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067800" y="2800350"/>
            <a:ext cx="828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6"/>
                </a:solidFill>
                <a:latin typeface="Microsoft YaHei"/>
                <a:ea typeface="Microsoft YaHei"/>
              </a:rPr>
              <a:t>手机</a:t>
            </a:r>
            <a:r>
              <a:rPr lang="en-US" sz="1275" b="1">
                <a:solidFill>
                  <a:srgbClr val="E8EEF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 b="1">
                <a:solidFill>
                  <a:srgbClr val="E8EEF6"/>
                </a:solidFill>
                <a:latin typeface="Microsoft YaHei"/>
                <a:ea typeface="Microsoft YaHei"/>
              </a:rPr>
              <a:t>平板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782050" y="3095625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FA9C4"/>
                </a:solidFill>
                <a:latin typeface="Microsoft YaHei"/>
                <a:ea typeface="Microsoft YaHei"/>
              </a:rPr>
              <a:t>浏览器即可查看运行状态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85800" y="4152900"/>
            <a:ext cx="3476625" cy="2057400"/>
          </a:xfrm>
          <a:prstGeom prst="roundRect">
            <a:avLst>
              <a:gd name="adj" fmla="val 4630"/>
            </a:avLst>
          </a:prstGeom>
          <a:solidFill>
            <a:srgbClr val="12293F">
              <a:alpha val="85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1" name="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57250" y="4324350"/>
            <a:ext cx="171450" cy="171450"/>
          </a:xfrm>
          <a:prstGeom prst="rect">
            <a:avLst/>
          </a:prstGeom>
          <a:ln/>
        </p:spPr>
      </p:pic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23950" y="43053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6"/>
                </a:solidFill>
                <a:latin typeface="Microsoft YaHei"/>
                <a:ea typeface="Microsoft YaHei"/>
              </a:rPr>
              <a:t>安装与部署规范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57250" y="4610100"/>
            <a:ext cx="31337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8FA9C4"/>
                </a:solidFill>
                <a:latin typeface="Microsoft YaHei"/>
                <a:ea typeface="Microsoft YaHei"/>
              </a:rPr>
              <a:t>安装包与数据目录规范、本地端口占用说明、浏览器远程访问所需的地址与端口授权步骤、防火墙放行清单，逐条写明，现场按单执行即可。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4352925" y="4152900"/>
            <a:ext cx="3486150" cy="2057400"/>
          </a:xfrm>
          <a:prstGeom prst="roundRect">
            <a:avLst>
              <a:gd name="adj" fmla="val 4630"/>
            </a:avLst>
          </a:prstGeom>
          <a:solidFill>
            <a:srgbClr val="12293F">
              <a:alpha val="85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5" name="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4524375" y="4324350"/>
            <a:ext cx="171450" cy="171450"/>
          </a:xfrm>
          <a:prstGeom prst="rect">
            <a:avLst/>
          </a:prstGeom>
          <a:ln/>
        </p:spPr>
      </p:pic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791075" y="43053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6"/>
                </a:solidFill>
                <a:latin typeface="Microsoft YaHei"/>
                <a:ea typeface="Microsoft YaHei"/>
              </a:rPr>
              <a:t>操作与维护文档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524375" y="4610100"/>
            <a:ext cx="31432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8FA9C4"/>
                </a:solidFill>
                <a:latin typeface="Microsoft YaHei"/>
                <a:ea typeface="Microsoft YaHei"/>
              </a:rPr>
              <a:t>系统操作手册、配方调试与参数维护说明、换配方作业的标准步骤模板，含前置条件、操作步骤与风险提示，换型不靠个人经验。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8029575" y="4152900"/>
            <a:ext cx="3476625" cy="2057400"/>
          </a:xfrm>
          <a:prstGeom prst="roundRect">
            <a:avLst>
              <a:gd name="adj" fmla="val 4630"/>
            </a:avLst>
          </a:prstGeom>
          <a:solidFill>
            <a:srgbClr val="12293F">
              <a:alpha val="85000"/>
            </a:srgbClr>
          </a:solidFill>
          <a:ln w="12700">
            <a:solidFill>
              <a:srgbClr val="E8EEF6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9" name="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8201025" y="4324350"/>
            <a:ext cx="171450" cy="171450"/>
          </a:xfrm>
          <a:prstGeom prst="rect">
            <a:avLst/>
          </a:prstGeom>
          <a:ln/>
        </p:spPr>
      </p:pic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467725" y="43053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6"/>
                </a:solidFill>
                <a:latin typeface="Microsoft YaHei"/>
                <a:ea typeface="Microsoft YaHei"/>
              </a:rPr>
              <a:t>授权与数据安全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201025" y="4610100"/>
            <a:ext cx="31337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8FA9C4"/>
                </a:solidFill>
                <a:latin typeface="Microsoft YaHei"/>
                <a:ea typeface="Microsoft YaHei"/>
              </a:rPr>
              <a:t>授权与设备指纹绑定，支持限时授权；账号权限分级，切换配方与修改设置仅管理员可操作；检测记录与操作日志本地留存，便于审计核对。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4A6480"/>
                </a:solidFill>
                <a:latin typeface="Microsoft YaHei"/>
                <a:ea typeface="Microsoft YaHei"/>
              </a:rPr>
              <a:t xml:space="preserve">CAV </a:t>
            </a:r>
            <a:r>
              <a:rPr lang="zh-CN" sz="1050" spc="75">
                <a:solidFill>
                  <a:srgbClr val="4A6480"/>
                </a:solidFill>
                <a:latin typeface="Microsoft YaHei"/>
                <a:ea typeface="Microsoft YaHei"/>
              </a:rPr>
              <a:t>物码绑定视觉系统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049000" y="6324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6480"/>
                </a:solidFill>
                <a:latin typeface="Microsoft YaHei"/>
                <a:ea typeface="Microsoft YaHei"/>
              </a:rPr>
              <a:t>14 / 16</a:t>
            </a:r>
            <a:endParaRPr/>
          </a:p>
        </p:txBody>
      </p:sp>
      <p:pic>
        <p:nvPicPr>
          <p:cNvPr id="164" name=""/>
          <p:cNvPicPr>
            <a:picLocks noChangeAspect="1"/>
          </p:cNvPicPr>
          <p:nvPr/>
        </p:nvPicPr>
        <p:blipFill>
          <a:blip r:embed="rId9">
            <a:alphaModFix amt="9000"/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10287000" y="4953000"/>
            <a:ext cx="1905000" cy="1905000"/>
          </a:xfrm>
          <a:prstGeom prst="rect">
            <a:avLst/>
          </a:prstGeom>
          <a:ln/>
        </p:spPr>
      </p:pic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5" name="" descr="&lt;Slide style={{ width: 1280, height: 720, background: '#0B1B2B', padding: '28px 72px', position: 'relative', overflow: 'hidden' }}&gt;&#10;    &lt;Box style={{ position: 'absolute', right: 0, bottom: 0, opacity: 0.09 }}&gt;&#10;        &lt;svg width='200' height='200' viewBox='0 0 200 200'&gt;&#10;            &lt;circle cx='200' cy='0' r='196' fill='none' stroke='#2E7FE0' strokeWidth='2' /&gt;&#10;            &lt;circle cx='200' cy='0' r='150' fill='none' stroke='#2E7FE0' strokeWidth='1.5' /&gt;&#10;            &lt;circle cx='200' cy='0' r='104' fill='none' stroke='#48C9B0' strokeWidth='1.5' /&gt;&#10;        &lt;/svg&gt;&#10;    &lt;/Box&gt;&#10;&#10;    &lt;Box style={{ height: 100, flexDirection: 'row', alignItems: 'center', gap: 18 }}&gt;&#10;        &lt;Box style={{ width: 4, height: 38, background: '#2E7FE0' }} /&gt;&#10;        &lt;Text style={{ fontSize: 38, fontWeight: 'bold', color: '#E8EEF6', letterSpacing: 1 }}&gt;运维与服务保障：把现场排查变成远程确认&lt;/Text&gt;&#10;    &lt;/Box&gt;&#10;&#10;    &lt;Box style={{ height: 524, flexDirection: 'row', gap: 36 }}&gt;&#10;&#10;        &lt;Box style={{ width: 380, borderLeft: '1px solid rgba(232,238,246,0.14)', paddingLeft: 26, justifyContent: 'space-between' }}&gt;&#10;            &lt;Box&gt;&#10;                &lt;Text style={{ fontSize: 15, color: '#48C9B0', letterSpacing: 3, fontWeight: 'bold' }}&gt;REMOTE OPS&lt;/Text&gt;&#10;                &lt;Text style={{ fontSize: 26, fontWeight: 'bold', color: '#E8EEF6', lineHeight: 1.35, marginTop: 16 }}&gt;&#10;                    人不在现场&#10;                    &lt;br /&gt;&#10;                    也能看到它在正常工作&#10;                &lt;/Text&gt;&#10;                &lt;Box style={{ width: 48, height: 3, background: '#2E7FE0', marginTop: 18, marginBottom: 18 }} /&gt;&#10;&#10;                &lt;Box style={{ flexDirection: 'row', gap: 12, alignItems: 'flex-start', marginBottom: 14 }}&gt;&#10;                    &lt;Box style={{ width: 28, height: 28, borderRadius: 8, background: 'rgba(46,127,224,0.18)', justifyContent: 'center', alignItems: 'center' }}&gt;&#10;                        &lt;FAIcon name='globe' style={{ fill: '#7FB4EE', width: 14, height: 14 }} /&gt;&#10;                    &lt;/Box&gt;&#10;                    &lt;Box style={{ flex: 1 }}&gt;&#10;                        &lt;Text style={{ fontSize: 17, fontWeight: 'bold', color: '#E8EEF6' }}&gt;三个远程页面&lt;/Text&gt;&#10;                        &lt;Text style={{ fontSize: 15, color: '#8FA9C4', lineHeight: 1.6, marginTop: 5 }}&gt;相机远程看图、AI 助手对话、统一运维门户，手机浏览器直接打开&lt;/Text&gt;&#10;                    &lt;/Box&gt;&#10;                &lt;/Box&gt;&#10;&#10;                &lt;Box style={{ flexDirection: 'row', gap: 12, alignItems: 'flex-start', marginBottom: 14 }}&gt;&#10;                    &lt;Box style={{ width: 28, height: 28, borderRadius: 8, background: 'rgba(46,127,224,0.18)', justifyContent: 'center', alignItems: 'center' }}&gt;&#10;                        &lt;FAIcon name='bell' style={{ fill: '#7FB4EE', width: 14, height: 14 }} /&gt;&#10;                    &lt;/Box&gt;&#10;                    &lt;Box style={{ flex: 1 }}&gt;&#10;                        &lt;Text style={{ fontSize: 17, fontWeight: 'bold', color: '#E8EEF6' }}&gt;告警分级与审计&lt;/Text&gt;&#10;                        &lt;Text style={{ fontSize: 15, color: '#8FA9C4', lineHeight: 1.6, marginTop: 5 }}&gt;四级日志分级与发送审计，异常可直接定位到具体帧与具体报文&lt;/Text&gt;&#10;                    &lt;/Box&gt;&#10;                &lt;/Box&gt;&#10;&#10;                &lt;Box style={{ flexDirection: 'row', gap: 12, alignItems: 'flex-start' }}&gt;&#10;                    &lt;Box style={{ width: 28, height: 28, borderRadius: 8, background: 'rgba(46,127,224,0.18)', justifyContent: 'center', alignItems: 'center' }}&gt;&#10;                        &lt;FAIcon name='database' style={{ fill: '#7FB4EE', width: 14, height: 14 }} /&gt;&#10;                    &lt;/Box&gt;&#10;                    &lt;Box style={{ flex: 1 }}&gt;&#10;                        &lt;Text style={{ fontSize: 17, fontWeight: 'bold', color: '#E8EEF6' }}&gt;数据自动保留&lt;/Text&gt;&#10;                        &lt;Text style={{ fontSize: 15, color: '#8FA9C4', lineHeight: 1.6, marginTop: 5 }}&gt;图片按保留天数自动清理，数据库与日志独立留存，不会占满磁盘&lt;/Text&gt;&#10;                    &lt;/Box&gt;&#10;                &lt;/Box&gt;&#10;            &lt;/Box&gt;&#10;&#10;            &lt;Box style={{ padding: '12px 16px', borderRadius: 8, background: 'rgba(46,127,224,0.12)', borderLeft: '3px solid #2E7FE0' }}&gt;&#10;                &lt;Text style={{ fontSize: 15, color: '#C6D6E6', lineHeight: 1.7 }}&gt;&#10;                    把&quot;凭经验判断&quot;变成&quot;看告警与趋势&quot;，把&quot;去现场&quot;变成&quot;开网页&quot;。&#10;                &lt;/Text&gt;&#10;            &lt;/Box&gt;&#10;        &lt;/Box&gt;&#10;&#10;        &lt;Box style={{ flex: 1, justifyContent: 'space-between' }}&gt;&#10;            &lt;Box&gt;&#10;                &lt;Image src='assets/settings-page.png' style={{ width: 690, height: 418, objectFit: 'contain', borderRadius: 10, border: '1px solid rgba(232,238,246,0.14)' }} /&gt;&#10;                &lt;Box style={{ flexDirection: 'row', alignItems: 'center', gap: 10, marginTop: 14 }}&gt;&#10;                    &lt;FAIcon name='info-circle' style={{ fill: '#4A6480', width: 14, height: 14 }} /&gt;&#10;                    &lt;Text style={{ fontSize: 15, color: '#7B94AD' }}&gt;系统设置界面：通用、目录、窗口与安全四组参数集中管理，保存即生效&lt;/Text&gt;&#10;                &lt;/Box&gt;&#10;            &lt;/Box&gt;&#10;            &lt;Box style={{ padding: '14px 18px', borderRadius: 10, background: 'rgba(242,179,61,0.10)', borderLeft: '3px solid #F2B33D' }}&gt;&#10;                &lt;Text style={{ fontSize: 16, color: '#C6D6E6', lineHeight: 1.7 }}&gt;&#10;                    运行状态与告警可在手机上看，异常不必等人到现场才被发现。&#10;                &lt;/Text&gt;&#10;            &lt;/Box&gt;&#10;        &lt;/Box&gt;&#10;&#10;    &lt;/Box&gt;&#10;&#10;    &lt;Box style={{ height: 40, flexDirection: 'row', alignItems: 'center', justifyContent: 'space-between' }}&gt;&#10;        &lt;Text style={{ fontSize: 14, color: '#4A6480', letterSpacing: 1 }}&gt;CAV 物码绑定视觉系统&lt;/Text&gt;&#10;        &lt;Text style={{ fontSize: 14, color: '#4A6480' }}&gt;1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685800" y="561975"/>
            <a:ext cx="38100" cy="361950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95350" y="523875"/>
            <a:ext cx="70580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75">
                <a:solidFill>
                  <a:srgbClr val="E8EEF6"/>
                </a:solidFill>
                <a:latin typeface="Microsoft YaHei"/>
                <a:ea typeface="Microsoft YaHei"/>
              </a:rPr>
              <a:t>运维与服务保障：把现场排查变成远程确认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85800" y="1219200"/>
            <a:ext cx="3619500" cy="4991100"/>
          </a:xfrm>
          <a:custGeom>
            <a:pathLst>
              <a:path w="380" h="524">
                <a:moveTo>
                  <a:pt x="0" y="0"/>
                </a:moveTo>
                <a:lnTo>
                  <a:pt x="1" y="0"/>
                </a:lnTo>
                <a:lnTo>
                  <a:pt x="1" y="524"/>
                </a:lnTo>
                <a:lnTo>
                  <a:pt x="0" y="524"/>
                </a:lnTo>
                <a:close/>
              </a:path>
            </a:pathLst>
          </a:custGeom>
          <a:solidFill>
            <a:srgbClr val="E8EEF6">
              <a:alpha val="14000"/>
            </a:srgbClr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42975" y="1219200"/>
            <a:ext cx="3362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48C9B0"/>
                </a:solidFill>
                <a:latin typeface="Microsoft YaHei"/>
                <a:ea typeface="Microsoft YaHei"/>
              </a:rPr>
              <a:t>REMOTE OPS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42975" y="1543050"/>
            <a:ext cx="3362325" cy="8096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E8EEF6"/>
                </a:solidFill>
                <a:latin typeface="Microsoft YaHei"/>
                <a:ea typeface="Microsoft YaHei"/>
              </a:rPr>
              <a:t>人不在现场</a:t>
            </a:r>
            <a:endParaRPr/>
          </a:p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E8EEF6"/>
                </a:solidFill>
                <a:latin typeface="Microsoft YaHei"/>
                <a:ea typeface="Microsoft YaHei"/>
              </a:rPr>
              <a:t>也能看到它在正常工作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942975" y="2524125"/>
            <a:ext cx="457200" cy="28575"/>
          </a:xfrm>
          <a:prstGeom prst="rect">
            <a:avLst/>
          </a:prstGeom>
          <a:solidFill>
            <a:srgbClr val="2E7FE0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942975" y="27241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E7FE0">
              <a:alpha val="18000"/>
            </a:srgbClr>
          </a:solidFill>
          <a:ln/>
        </p:spPr>
        <p:txBody>
          <a:bodyPr/>
          <a:p/>
        </p:txBody>
      </p:sp>
      <p:pic>
        <p:nvPicPr>
          <p:cNvPr id="174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09650" y="2790825"/>
            <a:ext cx="133350" cy="133350"/>
          </a:xfrm>
          <a:prstGeom prst="rect">
            <a:avLst/>
          </a:prstGeom>
          <a:ln/>
        </p:spPr>
      </p:pic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323975" y="2724150"/>
            <a:ext cx="2981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6"/>
                </a:solidFill>
                <a:latin typeface="Microsoft YaHei"/>
                <a:ea typeface="Microsoft YaHei"/>
              </a:rPr>
              <a:t>三个远程页面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323975" y="2971800"/>
            <a:ext cx="29813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相机远程看图、</a:t>
            </a:r>
            <a:r>
              <a:rPr lang="en-US" sz="1125">
                <a:solidFill>
                  <a:srgbClr val="8FA9C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助手对话、统一运维门户，手机浏览器直接打开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942975" y="36576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E7FE0">
              <a:alpha val="18000"/>
            </a:srgbClr>
          </a:solidFill>
          <a:ln/>
        </p:spPr>
        <p:txBody>
          <a:bodyPr/>
          <a:p/>
        </p:txBody>
      </p:sp>
      <p:pic>
        <p:nvPicPr>
          <p:cNvPr id="178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09650" y="3724275"/>
            <a:ext cx="133350" cy="133350"/>
          </a:xfrm>
          <a:prstGeom prst="rect">
            <a:avLst/>
          </a:prstGeom>
          <a:ln/>
        </p:spPr>
      </p:pic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323975" y="3657600"/>
            <a:ext cx="2981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6"/>
                </a:solidFill>
                <a:latin typeface="Microsoft YaHei"/>
                <a:ea typeface="Microsoft YaHei"/>
              </a:rPr>
              <a:t>告警分级与审计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323975" y="3905250"/>
            <a:ext cx="29813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四级日志分级与发送审计，异常可直接定位到具体帧与具体报文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942975" y="45910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2E7FE0">
              <a:alpha val="18000"/>
            </a:srgbClr>
          </a:solidFill>
          <a:ln/>
        </p:spPr>
        <p:txBody>
          <a:bodyPr/>
          <a:p/>
        </p:txBody>
      </p:sp>
      <p:pic>
        <p:nvPicPr>
          <p:cNvPr id="182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09650" y="4657725"/>
            <a:ext cx="133350" cy="133350"/>
          </a:xfrm>
          <a:prstGeom prst="rect">
            <a:avLst/>
          </a:prstGeom>
          <a:ln/>
        </p:spPr>
      </p:pic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323975" y="4591050"/>
            <a:ext cx="2981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6"/>
                </a:solidFill>
                <a:latin typeface="Microsoft YaHei"/>
                <a:ea typeface="Microsoft YaHei"/>
              </a:rPr>
              <a:t>数据自动保留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323975" y="4838700"/>
            <a:ext cx="29813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FA9C4"/>
                </a:solidFill>
                <a:latin typeface="Microsoft YaHei"/>
                <a:ea typeface="Microsoft YaHei"/>
              </a:rPr>
              <a:t>图片按保留天数自动清理，数据库与日志独立留存，不会占满磁盘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971550" y="5391150"/>
            <a:ext cx="3362325" cy="819150"/>
          </a:xfrm>
          <a:prstGeom prst="roundRect">
            <a:avLst>
              <a:gd name="adj" fmla="val 9302"/>
            </a:avLst>
          </a:prstGeom>
          <a:solidFill>
            <a:srgbClr val="2E7FE0">
              <a:alpha val="12000"/>
            </a:srgbClr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971550" y="5391150"/>
            <a:ext cx="3362325" cy="819150"/>
          </a:xfrm>
          <a:custGeom>
            <a:pathLst>
              <a:path w="353" h="8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1"/>
                </a:lnTo>
                <a:cubicBezTo>
                  <a:pt x="3" y="83"/>
                  <a:pt x="5" y="85"/>
                  <a:pt x="7" y="86"/>
                </a:cubicBezTo>
                <a:cubicBezTo>
                  <a:pt x="3" y="85"/>
                  <a:pt x="0" y="82"/>
                  <a:pt x="0" y="7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E7FE0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23950" y="5505450"/>
            <a:ext cx="30289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把</a:t>
            </a:r>
            <a:r>
              <a:rPr lang="en-US" sz="1125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凭经验判断</a:t>
            </a:r>
            <a:r>
              <a:rPr lang="en-US" sz="1125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变成</a:t>
            </a:r>
            <a:r>
              <a:rPr lang="en-US" sz="1125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看告警与趋势</a:t>
            </a:r>
            <a:r>
              <a:rPr lang="en-US" sz="1125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，把</a:t>
            </a:r>
            <a:r>
              <a:rPr lang="en-US" sz="1125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去现场</a:t>
            </a:r>
            <a:r>
              <a:rPr lang="en-US" sz="1125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变成</a:t>
            </a:r>
            <a:r>
              <a:rPr lang="en-US" sz="1125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开网页</a:t>
            </a:r>
            <a:r>
              <a:rPr lang="en-US" sz="1125">
                <a:solidFill>
                  <a:srgbClr val="C6D6E6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C6D6E6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4648200" y="1219200"/>
            <a:ext cx="6572250" cy="3981450"/>
          </a:xfrm>
          <a:prstGeom prst="rect">
            <a:avLst/>
          </a:prstGeom>
          <a:ln w="12700">
            <a:solidFill>
              <a:srgbClr val="E8EEF6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89" name=""/>
          <p:cNvPicPr>
            <a:picLocks noChangeAspect="1"/>
          </p:cNvPicPr>
          <p:nvPr/>
        </p:nvPicPr>
        <p:blipFill>
          <a:blip r:embed="rId4"/>
          <a:srcRect l="0" t="2574" r="0" b="2574"/>
          <a:stretch>
            <a:fillRect/>
          </a:stretch>
        </p:blipFill>
        <p:spPr>
          <a:xfrm rot="0" flipH="0" flipV="0">
            <a:off x="4648200" y="1219200"/>
            <a:ext cx="6572250" cy="3981450"/>
          </a:xfrm>
          <a:prstGeom prst="roundRect">
            <a:avLst>
              <a:gd name="adj" fmla="val 2392"/>
            </a:avLst>
          </a:prstGeom>
          <a:ln/>
        </p:spPr>
      </p:pic>
      <p:pic>
        <p:nvPicPr>
          <p:cNvPr id="190" name="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648200" y="5353050"/>
            <a:ext cx="133350" cy="133350"/>
          </a:xfrm>
          <a:prstGeom prst="rect">
            <a:avLst/>
          </a:prstGeom>
          <a:ln/>
        </p:spPr>
      </p:pic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876800" y="533400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94AD"/>
                </a:solidFill>
                <a:latin typeface="Microsoft YaHei"/>
                <a:ea typeface="Microsoft YaHei"/>
              </a:rPr>
              <a:t>系统设置界面：通用、目录、窗口与安全四组参数集中管理，保存即生效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676775" y="5629275"/>
            <a:ext cx="6858000" cy="581025"/>
          </a:xfrm>
          <a:prstGeom prst="roundRect">
            <a:avLst>
              <a:gd name="adj" fmla="val 16393"/>
            </a:avLst>
          </a:prstGeom>
          <a:solidFill>
            <a:srgbClr val="F2B33D">
              <a:alpha val="10000"/>
            </a:srgbClr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676775" y="5629275"/>
            <a:ext cx="6858000" cy="581025"/>
          </a:xfrm>
          <a:custGeom>
            <a:pathLst>
              <a:path w="720" h="61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54"/>
                </a:lnTo>
                <a:cubicBezTo>
                  <a:pt x="3" y="57"/>
                  <a:pt x="5" y="60"/>
                  <a:pt x="8" y="61"/>
                </a:cubicBezTo>
                <a:cubicBezTo>
                  <a:pt x="3" y="60"/>
                  <a:pt x="0" y="56"/>
                  <a:pt x="0" y="5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2B33D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848225" y="5762625"/>
            <a:ext cx="6486525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C6D6E6"/>
                </a:solidFill>
                <a:latin typeface="Microsoft YaHei"/>
                <a:ea typeface="Microsoft YaHei"/>
              </a:rPr>
              <a:t>运行状态与告警可在手机上看，异常不必等人到现场才被发现。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4A6480"/>
                </a:solidFill>
                <a:latin typeface="Microsoft YaHei"/>
                <a:ea typeface="Microsoft YaHei"/>
              </a:rPr>
              <a:t xml:space="preserve">CAV </a:t>
            </a:r>
            <a:r>
              <a:rPr lang="zh-CN" sz="1050" spc="75">
                <a:solidFill>
                  <a:srgbClr val="4A6480"/>
                </a:solidFill>
                <a:latin typeface="Microsoft YaHei"/>
                <a:ea typeface="Microsoft YaHei"/>
              </a:rPr>
              <a:t>物码绑定视觉系统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1049000" y="6324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6480"/>
                </a:solidFill>
                <a:latin typeface="Microsoft YaHei"/>
                <a:ea typeface="Microsoft YaHei"/>
              </a:rPr>
              <a:t>15 / 16</a:t>
            </a:r>
            <a:endParaRPr/>
          </a:p>
        </p:txBody>
      </p:sp>
      <p:pic>
        <p:nvPicPr>
          <p:cNvPr id="197" name=""/>
          <p:cNvPicPr>
            <a:picLocks noChangeAspect="1"/>
          </p:cNvPicPr>
          <p:nvPr/>
        </p:nvPicPr>
        <p:blipFill>
          <a:blip r:embed="rId6">
            <a:alphaModFix amt="9000"/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10287000" y="4953000"/>
            <a:ext cx="1905000" cy="1905000"/>
          </a:xfrm>
          <a:prstGeom prst="rect">
            <a:avLst/>
          </a:prstGeom>
          <a:ln/>
        </p:spPr>
      </p:pic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8" name="" descr="&lt;Slide style={{ width: 1280, height: 720, background: '#0B1B2B', position: 'relative', overflow: 'hidden', padding: 0 }}&gt;&#10;    &lt;Box style={{ position: 'absolute', left: 0, top: 268, width: 1280, height: 184, background: 'linear-gradient(90deg, rgba(46,127,224,0) 0%, rgba(46,127,224,0.16) 50%, rgba(46,127,224,0) 100%)' }} /&gt;&#10;    &lt;Box style={{ position: 'absolute', left: 440, top: 160, opacity: 0.10 }}&gt;&#10;        &lt;svg width='400' height='400' viewBox='0 0 400 400'&gt;&#10;            &lt;circle cx='200' cy='200' r='196' fill='none' stroke='#2E7FE0' strokeWidth='2' /&gt;&#10;            &lt;circle cx='200' cy='200' r='150' fill='none' stroke='#2E7FE0' strokeWidth='1.5' /&gt;&#10;            &lt;circle cx='200' cy='200' r='104' fill='none' stroke='#48C9B0' strokeWidth='1.5' /&gt;&#10;        &lt;/svg&gt;&#10;    &lt;/Box&gt;&#10;&#10;    &lt;Box style={{ position: 'relative', zIndex: 1, width: 1280, height: 720, justifyContent: 'center', alignItems: 'center' }}&gt;&#10;        &lt;Text style={{ fontSize: 16, color: '#48C9B0', letterSpacing: 4, fontWeight: 'bold' }}&gt;CAV · 物码绑定视觉系统&lt;/Text&gt;&#10;        &lt;Text style={{ fontSize: 64, fontWeight: 'bold', color: '#E8EEF6', lineHeight: 1.25, letterSpacing: 3, textAlign: 'center', marginTop: 30 }}&gt;&#10;            让产线自己读懂&#10;            &lt;br /&gt;&#10;            每一件产品&#10;        &lt;/Text&gt;&#10;        &lt;Box style={{ width: 64, height: 4, background: '#F2B33D', marginTop: 34, marginBottom: 26 }} /&gt;&#10;        &lt;Text style={{ fontSize: 22, color: '#8FA9C4', letterSpacing: 1 }}&gt;欢迎到产线实地验证&lt;/Text&gt;&#10;    &lt;/Box&gt;&#10;&#10;    &lt;Box style={{ position: 'absolute', left: 0, bottom: 62, width: 1280, alignItems: 'center' }}&gt;&#10;        &lt;Box style={{ flexDirection: 'row', alignItems: 'center', gap: 14 }}&gt;&#10;            &lt;Text style={{ fontSize: 15, color: '#7B94AD' }}&gt;AI 视觉检测&lt;/Text&gt;&#10;            &lt;Box style={{ width: 3, height: 3, borderRadius: 2, background: '#4A6480' }} /&gt;&#10;            &lt;Text style={{ fontSize: 15, color: '#7B94AD' }}&gt;九点标定&lt;/Text&gt;&#10;            &lt;Box style={{ width: 3, height: 3, borderRadius: 2, background: '#4A6480' }} /&gt;&#10;            &lt;Text style={{ fontSize: 15, color: '#7B94AD' }}&gt;物码绑定&lt;/Text&gt;&#10;            &lt;Box style={{ width: 3, height: 3, borderRadius: 2, background: '#4A6480' }} /&gt;&#10;            &lt;Text style={{ fontSize: 15, color: '#7B94AD' }}&gt;机器人打码通讯&lt;/Text&gt;&#10;        &lt;/Box&gt;&#10;        &lt;Text style={{ fontSize: 14, color: '#4A6480', letterSpacing: 2, marginTop: 16 }}&gt;2026 · 对外项目推介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0" y="2552700"/>
            <a:ext cx="12192000" cy="1752600"/>
          </a:xfrm>
          <a:prstGeom prst="rect">
            <a:avLst/>
          </a:prstGeom>
          <a:gradFill>
            <a:gsLst>
              <a:gs pos="0">
                <a:srgbClr val="2E7FE0">
                  <a:alpha val="0"/>
                </a:srgbClr>
              </a:gs>
              <a:gs pos="50000">
                <a:srgbClr val="2E7FE0">
                  <a:alpha val="16000"/>
                </a:srgbClr>
              </a:gs>
              <a:gs pos="100000">
                <a:srgbClr val="2E7FE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pic>
        <p:nvPicPr>
          <p:cNvPr id="201" name=""/>
          <p:cNvPicPr>
            <a:picLocks noChangeAspect="1"/>
          </p:cNvPicPr>
          <p:nvPr/>
        </p:nvPicPr>
        <p:blipFill>
          <a:blip r:embed="rId1">
            <a:alphaModFix amt="1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91000" y="1524000"/>
            <a:ext cx="3810000" cy="3810000"/>
          </a:xfrm>
          <a:prstGeom prst="rect">
            <a:avLst/>
          </a:prstGeom>
          <a:ln/>
        </p:spPr>
      </p:pic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200525" y="5781675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B94AD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>
                <a:solidFill>
                  <a:srgbClr val="7B94AD"/>
                </a:solidFill>
                <a:latin typeface="Microsoft YaHei"/>
                <a:ea typeface="Microsoft YaHei"/>
              </a:rPr>
              <a:t>视觉检测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5095875" y="58578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4A6480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257800" y="5781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94AD"/>
                </a:solidFill>
                <a:latin typeface="Microsoft YaHei"/>
                <a:ea typeface="Microsoft YaHei"/>
              </a:rPr>
              <a:t>九点标定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5962650" y="58578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4A6480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124575" y="5781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94AD"/>
                </a:solidFill>
                <a:latin typeface="Microsoft YaHei"/>
                <a:ea typeface="Microsoft YaHei"/>
              </a:rPr>
              <a:t>物码绑定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829425" y="58578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4A6480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991350" y="57816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94AD"/>
                </a:solidFill>
                <a:latin typeface="Microsoft YaHei"/>
                <a:ea typeface="Microsoft YaHei"/>
              </a:rPr>
              <a:t>机器人打码通讯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362575" y="6105525"/>
            <a:ext cx="1476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4A6480"/>
                </a:solidFill>
                <a:latin typeface="Microsoft YaHei"/>
                <a:ea typeface="Microsoft YaHei"/>
              </a:rPr>
              <a:t xml:space="preserve">2026 · </a:t>
            </a:r>
            <a:r>
              <a:rPr lang="zh-CN" sz="1050" spc="150">
                <a:solidFill>
                  <a:srgbClr val="4A6480"/>
                </a:solidFill>
                <a:latin typeface="Microsoft YaHei"/>
                <a:ea typeface="Microsoft YaHei"/>
              </a:rPr>
              <a:t>对外项目推介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981575" y="1847850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48C9B0"/>
                </a:solidFill>
                <a:latin typeface="Microsoft YaHei"/>
                <a:ea typeface="Microsoft YaHei"/>
              </a:rPr>
              <a:t xml:space="preserve">CAV · </a:t>
            </a:r>
            <a:r>
              <a:rPr lang="zh-CN" sz="1200" b="1" spc="300">
                <a:solidFill>
                  <a:srgbClr val="48C9B0"/>
                </a:solidFill>
                <a:latin typeface="Microsoft YaHei"/>
                <a:ea typeface="Microsoft YaHei"/>
              </a:rPr>
              <a:t>物码绑定视觉系统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867150" y="2324100"/>
            <a:ext cx="4467225" cy="182880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800" b="1" spc="225">
                <a:solidFill>
                  <a:srgbClr val="E8EEF6"/>
                </a:solidFill>
                <a:latin typeface="Microsoft YaHei"/>
                <a:ea typeface="Microsoft YaHei"/>
              </a:rPr>
              <a:t>让产线自己读懂</a:t>
            </a:r>
            <a:endParaRPr/>
          </a:p>
          <a:p>
            <a:pPr algn="ctr">
              <a:lnSpc>
                <a:spcPct val="125000"/>
              </a:lnSpc>
            </a:pPr>
            <a:r>
              <a:rPr lang="zh-CN" sz="4800" b="1" spc="225">
                <a:solidFill>
                  <a:srgbClr val="E8EEF6"/>
                </a:solidFill>
                <a:latin typeface="Microsoft YaHei"/>
                <a:ea typeface="Microsoft YaHei"/>
              </a:rPr>
              <a:t>每一件产品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5791200" y="4476750"/>
            <a:ext cx="609600" cy="38100"/>
          </a:xfrm>
          <a:prstGeom prst="rect">
            <a:avLst/>
          </a:prstGeom>
          <a:solidFill>
            <a:srgbClr val="F2B33D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114925" y="4762500"/>
            <a:ext cx="1971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75">
                <a:solidFill>
                  <a:srgbClr val="8FA9C4"/>
                </a:solidFill>
                <a:latin typeface="Microsoft YaHei"/>
                <a:ea typeface="Microsoft YaHei"/>
              </a:rPr>
              <a:t>欢迎到产线实地验证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2026-09-30T11:21:23Z</dcterms:created>
  <dcterms:modified xsi:type="dcterms:W3CDTF">2026-09-30T11:21:23Z</dcterms:modified>
</cp:coreProperties>
</file>